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6126480" y="0"/>
            <a:ext cx="3032608" cy="6858000"/>
          </a:xfrm>
          <a:prstGeom prst="rect">
            <a:avLst/>
          </a:prstGeom>
          <a:solidFill>
            <a:srgbClr val="E93D35"/>
          </a:solidFill>
          <a:ln w="12700">
            <a:solidFill>
              <a:srgbClr val="E93D35"/>
            </a:solidFill>
            <a:prstDash val="solid"/>
          </a:ln>
        </p:spPr>
      </p:sp>
      <p:sp>
        <p:nvSpPr>
          <p:cNvPr id="4" name="Shape 2"/>
          <p:cNvSpPr/>
          <p:nvPr/>
        </p:nvSpPr>
        <p:spPr>
          <a:xfrm>
            <a:off x="9159088" y="0"/>
            <a:ext cx="3032608" cy="6858000"/>
          </a:xfrm>
          <a:prstGeom prst="rect">
            <a:avLst/>
          </a:prstGeom>
          <a:solidFill>
            <a:srgbClr val="1C7ED6"/>
          </a:solidFill>
          <a:ln w="12700">
            <a:solidFill>
              <a:srgbClr val="1C7ED6"/>
            </a:solidFill>
            <a:prstDash val="solid"/>
          </a:ln>
        </p:spPr>
      </p:sp>
      <p:sp>
        <p:nvSpPr>
          <p:cNvPr id="5" name="Shape 3"/>
          <p:cNvSpPr/>
          <p:nvPr/>
        </p:nvSpPr>
        <p:spPr>
          <a:xfrm>
            <a:off x="9159088" y="0"/>
            <a:ext cx="0" cy="6858000"/>
          </a:xfrm>
          <a:prstGeom prst="line">
            <a:avLst/>
          </a:prstGeom>
          <a:noFill/>
          <a:ln w="27940">
            <a:solidFill>
              <a:srgbClr val="FFFFFF">
                <a:alpha val="92000"/>
              </a:srgbClr>
            </a:solidFill>
            <a:prstDash val="solid"/>
          </a:ln>
        </p:spPr>
      </p:sp>
      <p:sp>
        <p:nvSpPr>
          <p:cNvPr id="6" name="Shape 4"/>
          <p:cNvSpPr/>
          <p:nvPr/>
        </p:nvSpPr>
        <p:spPr>
          <a:xfrm>
            <a:off x="7036262" y="1920240"/>
            <a:ext cx="1940869" cy="3429000"/>
          </a:xfrm>
          <a:prstGeom prst="arc">
            <a:avLst/>
          </a:prstGeom>
          <a:solidFill>
            <a:srgbClr val="E93D35">
              <a:alpha val="0"/>
            </a:srgbClr>
          </a:solidFill>
          <a:ln w="50800">
            <a:solidFill>
              <a:srgbClr val="FFFFFF">
                <a:alpha val="96000"/>
              </a:srgbClr>
            </a:solidFill>
            <a:prstDash val="solid"/>
          </a:ln>
        </p:spPr>
      </p:sp>
      <p:sp>
        <p:nvSpPr>
          <p:cNvPr id="7" name="Shape 5"/>
          <p:cNvSpPr/>
          <p:nvPr/>
        </p:nvSpPr>
        <p:spPr>
          <a:xfrm>
            <a:off x="9341044" y="1645920"/>
            <a:ext cx="1819565" cy="3566160"/>
          </a:xfrm>
          <a:prstGeom prst="arc">
            <a:avLst/>
          </a:prstGeom>
          <a:solidFill>
            <a:srgbClr val="1C7ED6">
              <a:alpha val="0"/>
            </a:srgbClr>
          </a:solidFill>
          <a:ln w="50800">
            <a:solidFill>
              <a:srgbClr val="FFFFFF">
                <a:alpha val="96000"/>
              </a:srgbClr>
            </a:solidFill>
            <a:prstDash val="solid"/>
          </a:ln>
        </p:spPr>
      </p:sp>
      <p:sp>
        <p:nvSpPr>
          <p:cNvPr id="8" name="Shape 6"/>
          <p:cNvSpPr/>
          <p:nvPr/>
        </p:nvSpPr>
        <p:spPr>
          <a:xfrm>
            <a:off x="8552566" y="1508760"/>
            <a:ext cx="256032" cy="256032"/>
          </a:xfrm>
          <a:prstGeom prst="ellipse">
            <a:avLst/>
          </a:prstGeom>
          <a:solidFill>
            <a:srgbClr val="FFFFFF"/>
          </a:solidFill>
          <a:ln w="12700">
            <a:solidFill>
              <a:srgbClr val="FFFFFF"/>
            </a:solidFill>
            <a:prstDash val="solid"/>
          </a:ln>
        </p:spPr>
      </p:sp>
      <p:sp>
        <p:nvSpPr>
          <p:cNvPr id="9" name="Shape 7"/>
          <p:cNvSpPr/>
          <p:nvPr/>
        </p:nvSpPr>
        <p:spPr>
          <a:xfrm>
            <a:off x="9341044" y="1303020"/>
            <a:ext cx="256032" cy="256032"/>
          </a:xfrm>
          <a:prstGeom prst="ellipse">
            <a:avLst/>
          </a:prstGeom>
          <a:solidFill>
            <a:srgbClr val="FFFFFF"/>
          </a:solidFill>
          <a:ln w="12700">
            <a:solidFill>
              <a:srgbClr val="FFFFFF"/>
            </a:solidFill>
            <a:prstDash val="solid"/>
          </a:ln>
        </p:spPr>
      </p:sp>
      <p:sp>
        <p:nvSpPr>
          <p:cNvPr id="10" name="Shape 8"/>
          <p:cNvSpPr/>
          <p:nvPr/>
        </p:nvSpPr>
        <p:spPr>
          <a:xfrm>
            <a:off x="6355080" y="6528816"/>
            <a:ext cx="320040" cy="0"/>
          </a:xfrm>
          <a:prstGeom prst="line">
            <a:avLst/>
          </a:prstGeom>
          <a:noFill/>
          <a:ln w="12700">
            <a:solidFill>
              <a:srgbClr val="FFFFFF">
                <a:alpha val="60000"/>
              </a:srgbClr>
            </a:solidFill>
            <a:prstDash val="solid"/>
          </a:ln>
        </p:spPr>
      </p:sp>
      <p:sp>
        <p:nvSpPr>
          <p:cNvPr id="11" name="Shape 9"/>
          <p:cNvSpPr/>
          <p:nvPr/>
        </p:nvSpPr>
        <p:spPr>
          <a:xfrm>
            <a:off x="7156225" y="6455664"/>
            <a:ext cx="320040" cy="0"/>
          </a:xfrm>
          <a:prstGeom prst="line">
            <a:avLst/>
          </a:prstGeom>
          <a:noFill/>
          <a:ln w="12700">
            <a:solidFill>
              <a:srgbClr val="FFFFFF">
                <a:alpha val="60000"/>
              </a:srgbClr>
            </a:solidFill>
            <a:prstDash val="solid"/>
          </a:ln>
        </p:spPr>
      </p:sp>
      <p:sp>
        <p:nvSpPr>
          <p:cNvPr id="12" name="Shape 10"/>
          <p:cNvSpPr/>
          <p:nvPr/>
        </p:nvSpPr>
        <p:spPr>
          <a:xfrm>
            <a:off x="7957370" y="6528816"/>
            <a:ext cx="320040" cy="0"/>
          </a:xfrm>
          <a:prstGeom prst="line">
            <a:avLst/>
          </a:prstGeom>
          <a:noFill/>
          <a:ln w="12700">
            <a:solidFill>
              <a:srgbClr val="FFFFFF">
                <a:alpha val="60000"/>
              </a:srgbClr>
            </a:solidFill>
            <a:prstDash val="solid"/>
          </a:ln>
        </p:spPr>
      </p:sp>
      <p:sp>
        <p:nvSpPr>
          <p:cNvPr id="13" name="Shape 11"/>
          <p:cNvSpPr/>
          <p:nvPr/>
        </p:nvSpPr>
        <p:spPr>
          <a:xfrm>
            <a:off x="8758515" y="6455664"/>
            <a:ext cx="320040" cy="0"/>
          </a:xfrm>
          <a:prstGeom prst="line">
            <a:avLst/>
          </a:prstGeom>
          <a:noFill/>
          <a:ln w="12700">
            <a:solidFill>
              <a:srgbClr val="FFFFFF">
                <a:alpha val="60000"/>
              </a:srgbClr>
            </a:solidFill>
            <a:prstDash val="solid"/>
          </a:ln>
        </p:spPr>
      </p:sp>
      <p:sp>
        <p:nvSpPr>
          <p:cNvPr id="14" name="Shape 12"/>
          <p:cNvSpPr/>
          <p:nvPr/>
        </p:nvSpPr>
        <p:spPr>
          <a:xfrm>
            <a:off x="9559660" y="6528816"/>
            <a:ext cx="320040" cy="0"/>
          </a:xfrm>
          <a:prstGeom prst="line">
            <a:avLst/>
          </a:prstGeom>
          <a:noFill/>
          <a:ln w="12700">
            <a:solidFill>
              <a:srgbClr val="FFFFFF">
                <a:alpha val="60000"/>
              </a:srgbClr>
            </a:solidFill>
            <a:prstDash val="solid"/>
          </a:ln>
        </p:spPr>
      </p:sp>
      <p:sp>
        <p:nvSpPr>
          <p:cNvPr id="15" name="Shape 13"/>
          <p:cNvSpPr/>
          <p:nvPr/>
        </p:nvSpPr>
        <p:spPr>
          <a:xfrm>
            <a:off x="10360805" y="6455664"/>
            <a:ext cx="320040" cy="0"/>
          </a:xfrm>
          <a:prstGeom prst="line">
            <a:avLst/>
          </a:prstGeom>
          <a:noFill/>
          <a:ln w="12700">
            <a:solidFill>
              <a:srgbClr val="FFFFFF">
                <a:alpha val="60000"/>
              </a:srgbClr>
            </a:solidFill>
            <a:prstDash val="solid"/>
          </a:ln>
        </p:spPr>
      </p:sp>
      <p:sp>
        <p:nvSpPr>
          <p:cNvPr id="16" name="Shape 14"/>
          <p:cNvSpPr/>
          <p:nvPr/>
        </p:nvSpPr>
        <p:spPr>
          <a:xfrm>
            <a:off x="11161950" y="6528816"/>
            <a:ext cx="320040" cy="0"/>
          </a:xfrm>
          <a:prstGeom prst="line">
            <a:avLst/>
          </a:prstGeom>
          <a:noFill/>
          <a:ln w="12700">
            <a:solidFill>
              <a:srgbClr val="FFFFFF">
                <a:alpha val="60000"/>
              </a:srgbClr>
            </a:solidFill>
            <a:prstDash val="solid"/>
          </a:ln>
        </p:spPr>
      </p:sp>
      <p:sp>
        <p:nvSpPr>
          <p:cNvPr id="17" name="Shape 15"/>
          <p:cNvSpPr/>
          <p:nvPr/>
        </p:nvSpPr>
        <p:spPr>
          <a:xfrm>
            <a:off x="11963095" y="6455664"/>
            <a:ext cx="320040" cy="0"/>
          </a:xfrm>
          <a:prstGeom prst="line">
            <a:avLst/>
          </a:prstGeom>
          <a:noFill/>
          <a:ln w="12700">
            <a:solidFill>
              <a:srgbClr val="FFFFFF">
                <a:alpha val="60000"/>
              </a:srgbClr>
            </a:solidFill>
            <a:prstDash val="solid"/>
          </a:ln>
        </p:spPr>
      </p:sp>
      <p:sp>
        <p:nvSpPr>
          <p:cNvPr id="18" name="Shape 16"/>
          <p:cNvSpPr/>
          <p:nvPr/>
        </p:nvSpPr>
        <p:spPr>
          <a:xfrm>
            <a:off x="0" y="0"/>
            <a:ext cx="6355080" cy="6858000"/>
          </a:xfrm>
          <a:prstGeom prst="rect">
            <a:avLst/>
          </a:prstGeom>
          <a:solidFill>
            <a:srgbClr val="111111"/>
          </a:solidFill>
          <a:ln w="12700">
            <a:solidFill>
              <a:srgbClr val="111111"/>
            </a:solidFill>
            <a:prstDash val="solid"/>
          </a:ln>
        </p:spPr>
      </p:sp>
      <p:sp>
        <p:nvSpPr>
          <p:cNvPr id="19" name="Text 17"/>
          <p:cNvSpPr/>
          <p:nvPr/>
        </p:nvSpPr>
        <p:spPr>
          <a:xfrm>
            <a:off x="594360" y="502920"/>
            <a:ext cx="2926080" cy="228600"/>
          </a:xfrm>
          <a:prstGeom prst="rect">
            <a:avLst/>
          </a:prstGeom>
          <a:noFill/>
          <a:ln/>
        </p:spPr>
        <p:txBody>
          <a:bodyPr wrap="square" lIns="0" tIns="0" rIns="0" bIns="0" rtlCol="0" anchor="ctr"/>
          <a:lstStyle/>
          <a:p>
            <a:pPr indent="0" marL="0">
              <a:buNone/>
            </a:pPr>
            <a:r>
              <a:rPr lang="en-US" sz="900" b="1" dirty="0">
                <a:solidFill>
                  <a:srgbClr val="4DD0E1"/>
                </a:solidFill>
              </a:rPr>
              <a:t>综合影像实践 · 小作业1</a:t>
            </a:r>
            <a:endParaRPr lang="en-US" sz="900" dirty="0"/>
          </a:p>
        </p:txBody>
      </p:sp>
      <p:sp>
        <p:nvSpPr>
          <p:cNvPr id="20" name="Text 18"/>
          <p:cNvSpPr/>
          <p:nvPr/>
        </p:nvSpPr>
        <p:spPr>
          <a:xfrm>
            <a:off x="594360" y="1234440"/>
            <a:ext cx="5394960" cy="731520"/>
          </a:xfrm>
          <a:prstGeom prst="rect">
            <a:avLst/>
          </a:prstGeom>
          <a:noFill/>
          <a:ln/>
        </p:spPr>
        <p:txBody>
          <a:bodyPr wrap="square" lIns="0" tIns="0" rIns="0" bIns="0" rtlCol="0" anchor="ctr">
            <a:normAutofit/>
          </a:bodyPr>
          <a:lstStyle/>
          <a:p>
            <a:pPr indent="0" marL="0">
              <a:buNone/>
            </a:pPr>
            <a:r>
              <a:rPr lang="en-US" sz="2500" b="1" dirty="0">
                <a:solidFill>
                  <a:srgbClr val="FFFFFF"/>
                </a:solidFill>
              </a:rPr>
              <a:t>Nike《You Can’t Stop Us》</a:t>
            </a:r>
            <a:endParaRPr lang="en-US" sz="2500" dirty="0"/>
          </a:p>
        </p:txBody>
      </p:sp>
      <p:sp>
        <p:nvSpPr>
          <p:cNvPr id="21" name="Text 19"/>
          <p:cNvSpPr/>
          <p:nvPr/>
        </p:nvSpPr>
        <p:spPr>
          <a:xfrm>
            <a:off x="594360" y="1993392"/>
            <a:ext cx="5029200" cy="457200"/>
          </a:xfrm>
          <a:prstGeom prst="rect">
            <a:avLst/>
          </a:prstGeom>
          <a:noFill/>
          <a:ln/>
        </p:spPr>
        <p:txBody>
          <a:bodyPr wrap="square" lIns="0" tIns="0" rIns="0" bIns="0" rtlCol="0" anchor="ctr"/>
          <a:lstStyle/>
          <a:p>
            <a:pPr indent="0" marL="0">
              <a:buNone/>
            </a:pPr>
            <a:r>
              <a:rPr lang="en-US" sz="2000" b="1" dirty="0">
                <a:solidFill>
                  <a:srgbClr val="FFFFFF">
                    <a:alpha val="94000"/>
                  </a:srgbClr>
                </a:solidFill>
              </a:rPr>
              <a:t>综合影像作品调研报告</a:t>
            </a:r>
            <a:endParaRPr lang="en-US" sz="2000" dirty="0"/>
          </a:p>
        </p:txBody>
      </p:sp>
      <p:sp>
        <p:nvSpPr>
          <p:cNvPr id="22" name="Text 20"/>
          <p:cNvSpPr/>
          <p:nvPr/>
        </p:nvSpPr>
        <p:spPr>
          <a:xfrm>
            <a:off x="621792" y="2743200"/>
            <a:ext cx="4754880" cy="1097280"/>
          </a:xfrm>
          <a:prstGeom prst="rect">
            <a:avLst/>
          </a:prstGeom>
          <a:noFill/>
          <a:ln/>
        </p:spPr>
        <p:txBody>
          <a:bodyPr wrap="square" lIns="0" tIns="0" rIns="0" bIns="0" rtlCol="0" anchor="ctr">
            <a:normAutofit/>
          </a:bodyPr>
          <a:lstStyle/>
          <a:p>
            <a:pPr indent="0" marL="0">
              <a:buNone/>
            </a:pPr>
            <a:r>
              <a:rPr lang="en-US" sz="1250" dirty="0">
                <a:solidFill>
                  <a:srgbClr val="E5E7EB"/>
                </a:solidFill>
              </a:rPr>
              <a:t>从分屏剪辑、素材拼贴与体育精神叙事出发，分析一支广告短片如何把大量异质影像组织成具有情感力量的综合影像。</a:t>
            </a:r>
            <a:endParaRPr lang="en-US" sz="1250" dirty="0"/>
          </a:p>
        </p:txBody>
      </p:sp>
      <p:sp>
        <p:nvSpPr>
          <p:cNvPr id="23" name="Shape 21"/>
          <p:cNvSpPr/>
          <p:nvPr/>
        </p:nvSpPr>
        <p:spPr>
          <a:xfrm>
            <a:off x="621792" y="4160520"/>
            <a:ext cx="960120" cy="347472"/>
          </a:xfrm>
          <a:prstGeom prst="roundRect">
            <a:avLst>
              <a:gd name="adj" fmla="val 15789"/>
            </a:avLst>
          </a:prstGeom>
          <a:solidFill>
            <a:srgbClr val="E93D35"/>
          </a:solidFill>
          <a:ln w="12700">
            <a:solidFill>
              <a:srgbClr val="E93D35">
                <a:alpha val="0"/>
              </a:srgbClr>
            </a:solidFill>
            <a:prstDash val="solid"/>
          </a:ln>
        </p:spPr>
      </p:sp>
      <p:sp>
        <p:nvSpPr>
          <p:cNvPr id="24" name="Text 22"/>
          <p:cNvSpPr/>
          <p:nvPr/>
        </p:nvSpPr>
        <p:spPr>
          <a:xfrm>
            <a:off x="621792" y="4247388"/>
            <a:ext cx="960120" cy="146304"/>
          </a:xfrm>
          <a:prstGeom prst="rect">
            <a:avLst/>
          </a:prstGeom>
          <a:noFill/>
          <a:ln/>
        </p:spPr>
        <p:txBody>
          <a:bodyPr wrap="square" lIns="0" tIns="0" rIns="0" bIns="0" rtlCol="0" anchor="ctr"/>
          <a:lstStyle/>
          <a:p>
            <a:pPr algn="ctr" indent="0" marL="0">
              <a:buNone/>
            </a:pPr>
            <a:r>
              <a:rPr lang="en-US" sz="800" b="1" dirty="0">
                <a:solidFill>
                  <a:srgbClr val="FFFFFF"/>
                </a:solidFill>
              </a:rPr>
              <a:t>广告短片</a:t>
            </a:r>
            <a:endParaRPr lang="en-US" sz="800" dirty="0"/>
          </a:p>
        </p:txBody>
      </p:sp>
      <p:sp>
        <p:nvSpPr>
          <p:cNvPr id="25" name="Shape 23"/>
          <p:cNvSpPr/>
          <p:nvPr/>
        </p:nvSpPr>
        <p:spPr>
          <a:xfrm>
            <a:off x="1719072" y="4160520"/>
            <a:ext cx="1234440" cy="347472"/>
          </a:xfrm>
          <a:prstGeom prst="roundRect">
            <a:avLst>
              <a:gd name="adj" fmla="val 15789"/>
            </a:avLst>
          </a:prstGeom>
          <a:solidFill>
            <a:srgbClr val="1C7ED6"/>
          </a:solidFill>
          <a:ln w="12700">
            <a:solidFill>
              <a:srgbClr val="1C7ED6">
                <a:alpha val="0"/>
              </a:srgbClr>
            </a:solidFill>
            <a:prstDash val="solid"/>
          </a:ln>
        </p:spPr>
      </p:sp>
      <p:sp>
        <p:nvSpPr>
          <p:cNvPr id="26" name="Text 24"/>
          <p:cNvSpPr/>
          <p:nvPr/>
        </p:nvSpPr>
        <p:spPr>
          <a:xfrm>
            <a:off x="1719072" y="4247388"/>
            <a:ext cx="1234440" cy="146304"/>
          </a:xfrm>
          <a:prstGeom prst="rect">
            <a:avLst/>
          </a:prstGeom>
          <a:noFill/>
          <a:ln/>
        </p:spPr>
        <p:txBody>
          <a:bodyPr wrap="square" lIns="0" tIns="0" rIns="0" bIns="0" rtlCol="0" anchor="ctr"/>
          <a:lstStyle/>
          <a:p>
            <a:pPr algn="ctr" indent="0" marL="0">
              <a:buNone/>
            </a:pPr>
            <a:r>
              <a:rPr lang="en-US" sz="800" b="1" dirty="0">
                <a:solidFill>
                  <a:srgbClr val="FFFFFF"/>
                </a:solidFill>
              </a:rPr>
              <a:t>分屏蒙太奇</a:t>
            </a:r>
            <a:endParaRPr lang="en-US" sz="800" dirty="0"/>
          </a:p>
        </p:txBody>
      </p:sp>
      <p:sp>
        <p:nvSpPr>
          <p:cNvPr id="27" name="Shape 25"/>
          <p:cNvSpPr/>
          <p:nvPr/>
        </p:nvSpPr>
        <p:spPr>
          <a:xfrm>
            <a:off x="3090672" y="4160520"/>
            <a:ext cx="1508760" cy="347472"/>
          </a:xfrm>
          <a:prstGeom prst="roundRect">
            <a:avLst>
              <a:gd name="adj" fmla="val 15789"/>
            </a:avLst>
          </a:prstGeom>
          <a:solidFill>
            <a:srgbClr val="F7C948"/>
          </a:solidFill>
          <a:ln w="12700">
            <a:solidFill>
              <a:srgbClr val="F7C948">
                <a:alpha val="0"/>
              </a:srgbClr>
            </a:solidFill>
            <a:prstDash val="solid"/>
          </a:ln>
        </p:spPr>
      </p:sp>
      <p:sp>
        <p:nvSpPr>
          <p:cNvPr id="28" name="Text 26"/>
          <p:cNvSpPr/>
          <p:nvPr/>
        </p:nvSpPr>
        <p:spPr>
          <a:xfrm>
            <a:off x="3090672" y="4247388"/>
            <a:ext cx="1508760" cy="146304"/>
          </a:xfrm>
          <a:prstGeom prst="rect">
            <a:avLst/>
          </a:prstGeom>
          <a:noFill/>
          <a:ln/>
        </p:spPr>
        <p:txBody>
          <a:bodyPr wrap="square" lIns="0" tIns="0" rIns="0" bIns="0" rtlCol="0" anchor="ctr"/>
          <a:lstStyle/>
          <a:p>
            <a:pPr algn="ctr" indent="0" marL="0">
              <a:buNone/>
            </a:pPr>
            <a:r>
              <a:rPr lang="en-US" sz="800" b="1" dirty="0">
                <a:solidFill>
                  <a:srgbClr val="111111"/>
                </a:solidFill>
              </a:rPr>
              <a:t>社会情绪传播</a:t>
            </a:r>
            <a:endParaRPr lang="en-US" sz="800" dirty="0"/>
          </a:p>
        </p:txBody>
      </p:sp>
      <p:sp>
        <p:nvSpPr>
          <p:cNvPr id="29" name="Shape 27"/>
          <p:cNvSpPr/>
          <p:nvPr/>
        </p:nvSpPr>
        <p:spPr>
          <a:xfrm>
            <a:off x="621792" y="6089904"/>
            <a:ext cx="4480560" cy="0"/>
          </a:xfrm>
          <a:prstGeom prst="line">
            <a:avLst/>
          </a:prstGeom>
          <a:noFill/>
          <a:ln w="12700">
            <a:solidFill>
              <a:srgbClr val="FFFFFF">
                <a:alpha val="22000"/>
              </a:srgbClr>
            </a:solidFill>
            <a:prstDash val="solid"/>
          </a:ln>
        </p:spPr>
      </p:sp>
      <p:sp>
        <p:nvSpPr>
          <p:cNvPr id="30" name="Text 28"/>
          <p:cNvSpPr/>
          <p:nvPr/>
        </p:nvSpPr>
        <p:spPr>
          <a:xfrm>
            <a:off x="621792" y="6272784"/>
            <a:ext cx="3840480" cy="164592"/>
          </a:xfrm>
          <a:prstGeom prst="rect">
            <a:avLst/>
          </a:prstGeom>
          <a:noFill/>
          <a:ln/>
        </p:spPr>
        <p:txBody>
          <a:bodyPr wrap="square" lIns="0" tIns="0" rIns="0" bIns="0" rtlCol="0" anchor="ctr"/>
          <a:lstStyle/>
          <a:p>
            <a:pPr indent="0" marL="0">
              <a:buNone/>
            </a:pPr>
            <a:r>
              <a:rPr lang="en-US" sz="800" dirty="0">
                <a:solidFill>
                  <a:srgbClr val="CBD5E1"/>
                </a:solidFill>
              </a:rPr>
              <a:t>作品发布：2020 年 7 月  |  调研报告</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F"/>
          </a:solidFill>
          <a:ln w="12700">
            <a:solidFill>
              <a:srgbClr val="F7F4E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TASK RESPONSE</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作业要求与选题说明</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pic>
        <p:nvPicPr>
          <p:cNvPr id="6" name="Image 0" descr="/Users/baojiale/Downloads/1263.JPG">    </p:cNvPr>
          <p:cNvPicPr>
            <a:picLocks noChangeAspect="1"/>
          </p:cNvPicPr>
          <p:nvPr/>
        </p:nvPicPr>
        <p:blipFill>
          <a:blip r:embed="rId1"/>
          <a:stretch>
            <a:fillRect/>
          </a:stretch>
        </p:blipFill>
        <p:spPr>
          <a:xfrm>
            <a:off x="594360" y="1600200"/>
            <a:ext cx="3840480" cy="4343400"/>
          </a:xfrm>
          <a:prstGeom prst="rect">
            <a:avLst/>
          </a:prstGeom>
        </p:spPr>
      </p:pic>
      <p:sp>
        <p:nvSpPr>
          <p:cNvPr id="7" name="Shape 4"/>
          <p:cNvSpPr/>
          <p:nvPr/>
        </p:nvSpPr>
        <p:spPr>
          <a:xfrm>
            <a:off x="594360" y="1600200"/>
            <a:ext cx="3840480" cy="4343400"/>
          </a:xfrm>
          <a:prstGeom prst="rect">
            <a:avLst/>
          </a:prstGeom>
          <a:solidFill>
            <a:srgbClr val="FFFFFF">
              <a:alpha val="0"/>
            </a:srgbClr>
          </a:solidFill>
          <a:ln w="15240">
            <a:solidFill>
              <a:srgbClr val="D4CEC2"/>
            </a:solidFill>
            <a:prstDash val="solid"/>
          </a:ln>
        </p:spPr>
      </p:sp>
      <p:sp>
        <p:nvSpPr>
          <p:cNvPr id="8" name="Text 5"/>
          <p:cNvSpPr/>
          <p:nvPr/>
        </p:nvSpPr>
        <p:spPr>
          <a:xfrm>
            <a:off x="4892040" y="1627632"/>
            <a:ext cx="6309360" cy="502920"/>
          </a:xfrm>
          <a:prstGeom prst="rect">
            <a:avLst/>
          </a:prstGeom>
          <a:noFill/>
          <a:ln/>
        </p:spPr>
        <p:txBody>
          <a:bodyPr wrap="square" lIns="0" tIns="0" rIns="0" bIns="0" rtlCol="0" anchor="ctr"/>
          <a:lstStyle/>
          <a:p>
            <a:pPr indent="0" marL="0">
              <a:buNone/>
            </a:pPr>
            <a:r>
              <a:rPr lang="en-US" sz="1700" b="1" dirty="0">
                <a:solidFill>
                  <a:srgbClr val="111111"/>
                </a:solidFill>
              </a:rPr>
              <a:t>本报告选择 Nike 2020 年广告短片《You Can’t Stop Us》作为代表性“综合影像”作品。</a:t>
            </a:r>
            <a:endParaRPr lang="en-US" sz="1700" dirty="0"/>
          </a:p>
        </p:txBody>
      </p:sp>
      <p:sp>
        <p:nvSpPr>
          <p:cNvPr id="9" name="Shape 6"/>
          <p:cNvSpPr/>
          <p:nvPr/>
        </p:nvSpPr>
        <p:spPr>
          <a:xfrm>
            <a:off x="4892040" y="2423160"/>
            <a:ext cx="1920240" cy="2651760"/>
          </a:xfrm>
          <a:prstGeom prst="roundRect">
            <a:avLst>
              <a:gd name="adj" fmla="val 3810"/>
            </a:avLst>
          </a:prstGeom>
          <a:solidFill>
            <a:srgbClr val="FFFFFF"/>
          </a:solidFill>
          <a:ln w="12700">
            <a:solidFill>
              <a:srgbClr val="E4DED3"/>
            </a:solidFill>
            <a:prstDash val="solid"/>
          </a:ln>
          <a:effectLst>
            <a:outerShdw sx="100000" sy="100000" kx="0" ky="0" algn="bl" rotWithShape="0" blurRad="12700" dist="50800" dir="2700000">
              <a:srgbClr val="000000">
                <a:alpha val="8000"/>
              </a:srgbClr>
            </a:outerShdw>
          </a:effectLst>
        </p:spPr>
      </p:sp>
      <p:sp>
        <p:nvSpPr>
          <p:cNvPr id="10" name="Shape 7"/>
          <p:cNvSpPr/>
          <p:nvPr/>
        </p:nvSpPr>
        <p:spPr>
          <a:xfrm>
            <a:off x="4892040" y="2423160"/>
            <a:ext cx="73152" cy="2651760"/>
          </a:xfrm>
          <a:prstGeom prst="rect">
            <a:avLst/>
          </a:prstGeom>
          <a:solidFill>
            <a:srgbClr val="E93D35"/>
          </a:solidFill>
          <a:ln w="12700">
            <a:solidFill>
              <a:srgbClr val="E93D35"/>
            </a:solidFill>
            <a:prstDash val="solid"/>
          </a:ln>
        </p:spPr>
      </p:sp>
      <p:sp>
        <p:nvSpPr>
          <p:cNvPr id="11" name="Text 8"/>
          <p:cNvSpPr/>
          <p:nvPr/>
        </p:nvSpPr>
        <p:spPr>
          <a:xfrm>
            <a:off x="5120640" y="2624328"/>
            <a:ext cx="1508760" cy="246888"/>
          </a:xfrm>
          <a:prstGeom prst="rect">
            <a:avLst/>
          </a:prstGeom>
          <a:noFill/>
          <a:ln/>
        </p:spPr>
        <p:txBody>
          <a:bodyPr wrap="square" lIns="0" tIns="0" rIns="0" bIns="0" rtlCol="0" anchor="ctr"/>
          <a:lstStyle/>
          <a:p>
            <a:pPr indent="0" marL="0">
              <a:buNone/>
            </a:pPr>
            <a:r>
              <a:rPr lang="en-US" sz="1300" b="1" dirty="0">
                <a:solidFill>
                  <a:srgbClr val="111111"/>
                </a:solidFill>
              </a:rPr>
              <a:t>01 基本信息</a:t>
            </a:r>
            <a:endParaRPr lang="en-US" sz="1300" dirty="0"/>
          </a:p>
        </p:txBody>
      </p:sp>
      <p:sp>
        <p:nvSpPr>
          <p:cNvPr id="12" name="Text 9"/>
          <p:cNvSpPr/>
          <p:nvPr/>
        </p:nvSpPr>
        <p:spPr>
          <a:xfrm>
            <a:off x="5120640" y="3026664"/>
            <a:ext cx="1508760" cy="1874520"/>
          </a:xfrm>
          <a:prstGeom prst="rect">
            <a:avLst/>
          </a:prstGeom>
          <a:noFill/>
          <a:ln/>
        </p:spPr>
        <p:txBody>
          <a:bodyPr wrap="square" lIns="254" tIns="254" rIns="254" bIns="254" rtlCol="0" anchor="t">
            <a:normAutofit/>
          </a:bodyPr>
          <a:lstStyle/>
          <a:p>
            <a:r>
              <a:rPr lang="en-US" sz="940" dirty="0">
                <a:solidFill>
                  <a:srgbClr val="1F2937"/>
                </a:solidFill>
              </a:rPr>
              <a:t>片名、类型、年份、品牌、主创与传播场景</a:t>
            </a:r>
            <a:endParaRPr lang="en-US" sz="940" dirty="0"/>
          </a:p>
        </p:txBody>
      </p:sp>
      <p:sp>
        <p:nvSpPr>
          <p:cNvPr id="13" name="Shape 10"/>
          <p:cNvSpPr/>
          <p:nvPr/>
        </p:nvSpPr>
        <p:spPr>
          <a:xfrm>
            <a:off x="6995160" y="2423160"/>
            <a:ext cx="1920240" cy="2651760"/>
          </a:xfrm>
          <a:prstGeom prst="roundRect">
            <a:avLst>
              <a:gd name="adj" fmla="val 3810"/>
            </a:avLst>
          </a:prstGeom>
          <a:solidFill>
            <a:srgbClr val="FFFFFF"/>
          </a:solidFill>
          <a:ln w="12700">
            <a:solidFill>
              <a:srgbClr val="E4DED3"/>
            </a:solidFill>
            <a:prstDash val="solid"/>
          </a:ln>
          <a:effectLst>
            <a:outerShdw sx="100000" sy="100000" kx="0" ky="0" algn="bl" rotWithShape="0" blurRad="12700" dist="50800" dir="2700000">
              <a:srgbClr val="000000">
                <a:alpha val="8000"/>
              </a:srgbClr>
            </a:outerShdw>
          </a:effectLst>
        </p:spPr>
      </p:sp>
      <p:sp>
        <p:nvSpPr>
          <p:cNvPr id="14" name="Shape 11"/>
          <p:cNvSpPr/>
          <p:nvPr/>
        </p:nvSpPr>
        <p:spPr>
          <a:xfrm>
            <a:off x="6995160" y="2423160"/>
            <a:ext cx="73152" cy="2651760"/>
          </a:xfrm>
          <a:prstGeom prst="rect">
            <a:avLst/>
          </a:prstGeom>
          <a:solidFill>
            <a:srgbClr val="1C7ED6"/>
          </a:solidFill>
          <a:ln w="12700">
            <a:solidFill>
              <a:srgbClr val="1C7ED6"/>
            </a:solidFill>
            <a:prstDash val="solid"/>
          </a:ln>
        </p:spPr>
      </p:sp>
      <p:sp>
        <p:nvSpPr>
          <p:cNvPr id="15" name="Text 12"/>
          <p:cNvSpPr/>
          <p:nvPr/>
        </p:nvSpPr>
        <p:spPr>
          <a:xfrm>
            <a:off x="7223760" y="2624328"/>
            <a:ext cx="1508760" cy="246888"/>
          </a:xfrm>
          <a:prstGeom prst="rect">
            <a:avLst/>
          </a:prstGeom>
          <a:noFill/>
          <a:ln/>
        </p:spPr>
        <p:txBody>
          <a:bodyPr wrap="square" lIns="0" tIns="0" rIns="0" bIns="0" rtlCol="0" anchor="ctr"/>
          <a:lstStyle/>
          <a:p>
            <a:pPr indent="0" marL="0">
              <a:buNone/>
            </a:pPr>
            <a:r>
              <a:rPr lang="en-US" sz="1300" b="1" dirty="0">
                <a:solidFill>
                  <a:srgbClr val="111111"/>
                </a:solidFill>
              </a:rPr>
              <a:t>02 背景目的</a:t>
            </a:r>
            <a:endParaRPr lang="en-US" sz="1300" dirty="0"/>
          </a:p>
        </p:txBody>
      </p:sp>
      <p:sp>
        <p:nvSpPr>
          <p:cNvPr id="16" name="Text 13"/>
          <p:cNvSpPr/>
          <p:nvPr/>
        </p:nvSpPr>
        <p:spPr>
          <a:xfrm>
            <a:off x="7223760" y="3026664"/>
            <a:ext cx="1508760" cy="1874520"/>
          </a:xfrm>
          <a:prstGeom prst="rect">
            <a:avLst/>
          </a:prstGeom>
          <a:noFill/>
          <a:ln/>
        </p:spPr>
        <p:txBody>
          <a:bodyPr wrap="square" lIns="254" tIns="254" rIns="254" bIns="254" rtlCol="0" anchor="t">
            <a:normAutofit/>
          </a:bodyPr>
          <a:lstStyle/>
          <a:p>
            <a:r>
              <a:rPr lang="en-US" sz="940" dirty="0">
                <a:solidFill>
                  <a:srgbClr val="1F2937"/>
                </a:solidFill>
              </a:rPr>
              <a:t>疫情与体育停摆语境中，重建集体信念与品牌精神</a:t>
            </a:r>
            <a:endParaRPr lang="en-US" sz="940" dirty="0"/>
          </a:p>
        </p:txBody>
      </p:sp>
      <p:sp>
        <p:nvSpPr>
          <p:cNvPr id="17" name="Shape 14"/>
          <p:cNvSpPr/>
          <p:nvPr/>
        </p:nvSpPr>
        <p:spPr>
          <a:xfrm>
            <a:off x="9098280" y="2423160"/>
            <a:ext cx="1920240" cy="2651760"/>
          </a:xfrm>
          <a:prstGeom prst="roundRect">
            <a:avLst>
              <a:gd name="adj" fmla="val 3810"/>
            </a:avLst>
          </a:prstGeom>
          <a:solidFill>
            <a:srgbClr val="FFFFFF"/>
          </a:solidFill>
          <a:ln w="12700">
            <a:solidFill>
              <a:srgbClr val="E4DED3"/>
            </a:solidFill>
            <a:prstDash val="solid"/>
          </a:ln>
          <a:effectLst>
            <a:outerShdw sx="100000" sy="100000" kx="0" ky="0" algn="bl" rotWithShape="0" blurRad="12700" dist="50800" dir="2700000">
              <a:srgbClr val="000000">
                <a:alpha val="8000"/>
              </a:srgbClr>
            </a:outerShdw>
          </a:effectLst>
        </p:spPr>
      </p:sp>
      <p:sp>
        <p:nvSpPr>
          <p:cNvPr id="18" name="Shape 15"/>
          <p:cNvSpPr/>
          <p:nvPr/>
        </p:nvSpPr>
        <p:spPr>
          <a:xfrm>
            <a:off x="9098280" y="2423160"/>
            <a:ext cx="73152" cy="2651760"/>
          </a:xfrm>
          <a:prstGeom prst="rect">
            <a:avLst/>
          </a:prstGeom>
          <a:solidFill>
            <a:srgbClr val="F7C948"/>
          </a:solidFill>
          <a:ln w="12700">
            <a:solidFill>
              <a:srgbClr val="F7C948"/>
            </a:solidFill>
            <a:prstDash val="solid"/>
          </a:ln>
        </p:spPr>
      </p:sp>
      <p:sp>
        <p:nvSpPr>
          <p:cNvPr id="19" name="Text 16"/>
          <p:cNvSpPr/>
          <p:nvPr/>
        </p:nvSpPr>
        <p:spPr>
          <a:xfrm>
            <a:off x="9326880" y="2624328"/>
            <a:ext cx="1508760" cy="246888"/>
          </a:xfrm>
          <a:prstGeom prst="rect">
            <a:avLst/>
          </a:prstGeom>
          <a:noFill/>
          <a:ln/>
        </p:spPr>
        <p:txBody>
          <a:bodyPr wrap="square" lIns="0" tIns="0" rIns="0" bIns="0" rtlCol="0" anchor="ctr"/>
          <a:lstStyle/>
          <a:p>
            <a:pPr indent="0" marL="0">
              <a:buNone/>
            </a:pPr>
            <a:r>
              <a:rPr lang="en-US" sz="1300" b="1" dirty="0">
                <a:solidFill>
                  <a:srgbClr val="111111"/>
                </a:solidFill>
              </a:rPr>
              <a:t>03 技术手法</a:t>
            </a:r>
            <a:endParaRPr lang="en-US" sz="1300" dirty="0"/>
          </a:p>
        </p:txBody>
      </p:sp>
      <p:sp>
        <p:nvSpPr>
          <p:cNvPr id="20" name="Text 17"/>
          <p:cNvSpPr/>
          <p:nvPr/>
        </p:nvSpPr>
        <p:spPr>
          <a:xfrm>
            <a:off x="9326880" y="3026664"/>
            <a:ext cx="1508760" cy="1874520"/>
          </a:xfrm>
          <a:prstGeom prst="rect">
            <a:avLst/>
          </a:prstGeom>
          <a:noFill/>
          <a:ln/>
        </p:spPr>
        <p:txBody>
          <a:bodyPr wrap="square" lIns="254" tIns="254" rIns="254" bIns="254" rtlCol="0" anchor="t">
            <a:normAutofit/>
          </a:bodyPr>
          <a:lstStyle/>
          <a:p>
            <a:r>
              <a:rPr lang="en-US" sz="940" dirty="0">
                <a:solidFill>
                  <a:srgbClr val="1F2937"/>
                </a:solidFill>
              </a:rPr>
              <a:t>素材检索、动作匹配、分屏拼接、节奏剪辑与声音设计</a:t>
            </a:r>
            <a:endParaRPr lang="en-US" sz="940" dirty="0"/>
          </a:p>
        </p:txBody>
      </p:sp>
      <p:sp>
        <p:nvSpPr>
          <p:cNvPr id="21" name="Shape 18"/>
          <p:cNvSpPr/>
          <p:nvPr/>
        </p:nvSpPr>
        <p:spPr>
          <a:xfrm>
            <a:off x="4892040" y="5321808"/>
            <a:ext cx="6126480" cy="685800"/>
          </a:xfrm>
          <a:prstGeom prst="roundRect">
            <a:avLst>
              <a:gd name="adj" fmla="val 10667"/>
            </a:avLst>
          </a:prstGeom>
          <a:solidFill>
            <a:srgbClr val="FFFFFF"/>
          </a:solidFill>
          <a:ln w="12700">
            <a:solidFill>
              <a:srgbClr val="E4DED3"/>
            </a:solidFill>
            <a:prstDash val="solid"/>
          </a:ln>
          <a:effectLst>
            <a:outerShdw sx="100000" sy="100000" kx="0" ky="0" algn="bl" rotWithShape="0" blurRad="12700" dist="50800" dir="2700000">
              <a:srgbClr val="000000">
                <a:alpha val="8000"/>
              </a:srgbClr>
            </a:outerShdw>
          </a:effectLst>
        </p:spPr>
      </p:sp>
      <p:sp>
        <p:nvSpPr>
          <p:cNvPr id="22" name="Shape 19"/>
          <p:cNvSpPr/>
          <p:nvPr/>
        </p:nvSpPr>
        <p:spPr>
          <a:xfrm>
            <a:off x="4892040" y="5321808"/>
            <a:ext cx="73152" cy="685800"/>
          </a:xfrm>
          <a:prstGeom prst="rect">
            <a:avLst/>
          </a:prstGeom>
          <a:solidFill>
            <a:srgbClr val="2F9E44"/>
          </a:solidFill>
          <a:ln w="12700">
            <a:solidFill>
              <a:srgbClr val="2F9E44"/>
            </a:solidFill>
            <a:prstDash val="solid"/>
          </a:ln>
        </p:spPr>
      </p:sp>
      <p:sp>
        <p:nvSpPr>
          <p:cNvPr id="23" name="Text 20"/>
          <p:cNvSpPr/>
          <p:nvPr/>
        </p:nvSpPr>
        <p:spPr>
          <a:xfrm>
            <a:off x="5120640" y="5522976"/>
            <a:ext cx="5715000" cy="246888"/>
          </a:xfrm>
          <a:prstGeom prst="rect">
            <a:avLst/>
          </a:prstGeom>
          <a:noFill/>
          <a:ln/>
        </p:spPr>
        <p:txBody>
          <a:bodyPr wrap="square" lIns="0" tIns="0" rIns="0" bIns="0" rtlCol="0" anchor="ctr"/>
          <a:lstStyle/>
          <a:p>
            <a:pPr indent="0" marL="0">
              <a:buNone/>
            </a:pPr>
            <a:r>
              <a:rPr lang="en-US" sz="1300" b="1" dirty="0">
                <a:solidFill>
                  <a:srgbClr val="111111"/>
                </a:solidFill>
              </a:rPr>
              <a:t>04 影像语言与审美特点</a:t>
            </a:r>
            <a:endParaRPr lang="en-US" sz="1300" dirty="0"/>
          </a:p>
        </p:txBody>
      </p:sp>
      <p:sp>
        <p:nvSpPr>
          <p:cNvPr id="24" name="Text 21"/>
          <p:cNvSpPr/>
          <p:nvPr/>
        </p:nvSpPr>
        <p:spPr>
          <a:xfrm>
            <a:off x="5120640" y="5925312"/>
            <a:ext cx="5715000" cy="-91440"/>
          </a:xfrm>
          <a:prstGeom prst="rect">
            <a:avLst/>
          </a:prstGeom>
          <a:noFill/>
          <a:ln/>
        </p:spPr>
        <p:txBody>
          <a:bodyPr wrap="square" lIns="254" tIns="254" rIns="254" bIns="254" rtlCol="0" anchor="t">
            <a:normAutofit/>
          </a:bodyPr>
          <a:lstStyle/>
          <a:p>
            <a:r>
              <a:rPr lang="en-US" sz="940" dirty="0">
                <a:solidFill>
                  <a:srgbClr val="1F2937"/>
                </a:solidFill>
              </a:rPr>
              <a:t>用“看似不同、实则相连”的视觉结构，表达体育、社会与个体经验之间的共振。</a:t>
            </a:r>
            <a:endParaRPr lang="en-US" sz="940" dirty="0"/>
          </a:p>
        </p:txBody>
      </p:sp>
      <p:sp>
        <p:nvSpPr>
          <p:cNvPr id="25" name="Text 22"/>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F"/>
          </a:solidFill>
          <a:ln w="12700">
            <a:solidFill>
              <a:srgbClr val="F7F4E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PART 01</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作品基本信息</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Shape 4"/>
          <p:cNvSpPr/>
          <p:nvPr/>
        </p:nvSpPr>
        <p:spPr>
          <a:xfrm>
            <a:off x="594360" y="1572768"/>
            <a:ext cx="2217420" cy="3703320"/>
          </a:xfrm>
          <a:prstGeom prst="rect">
            <a:avLst/>
          </a:prstGeom>
          <a:solidFill>
            <a:srgbClr val="E93D35"/>
          </a:solidFill>
          <a:ln w="12700">
            <a:solidFill>
              <a:srgbClr val="E93D35"/>
            </a:solidFill>
            <a:prstDash val="solid"/>
          </a:ln>
        </p:spPr>
      </p:sp>
      <p:sp>
        <p:nvSpPr>
          <p:cNvPr id="7" name="Shape 5"/>
          <p:cNvSpPr/>
          <p:nvPr/>
        </p:nvSpPr>
        <p:spPr>
          <a:xfrm>
            <a:off x="2811780" y="1572768"/>
            <a:ext cx="2217420" cy="3703320"/>
          </a:xfrm>
          <a:prstGeom prst="rect">
            <a:avLst/>
          </a:prstGeom>
          <a:solidFill>
            <a:srgbClr val="1C7ED6"/>
          </a:solidFill>
          <a:ln w="12700">
            <a:solidFill>
              <a:srgbClr val="1C7ED6"/>
            </a:solidFill>
            <a:prstDash val="solid"/>
          </a:ln>
        </p:spPr>
      </p:sp>
      <p:sp>
        <p:nvSpPr>
          <p:cNvPr id="8" name="Shape 6"/>
          <p:cNvSpPr/>
          <p:nvPr/>
        </p:nvSpPr>
        <p:spPr>
          <a:xfrm>
            <a:off x="2811780" y="1572768"/>
            <a:ext cx="0" cy="3703320"/>
          </a:xfrm>
          <a:prstGeom prst="line">
            <a:avLst/>
          </a:prstGeom>
          <a:noFill/>
          <a:ln w="27940">
            <a:solidFill>
              <a:srgbClr val="FFFFFF">
                <a:alpha val="92000"/>
              </a:srgbClr>
            </a:solidFill>
            <a:prstDash val="solid"/>
          </a:ln>
        </p:spPr>
      </p:sp>
      <p:sp>
        <p:nvSpPr>
          <p:cNvPr id="9" name="Shape 7"/>
          <p:cNvSpPr/>
          <p:nvPr/>
        </p:nvSpPr>
        <p:spPr>
          <a:xfrm>
            <a:off x="1259586" y="2609698"/>
            <a:ext cx="1419149" cy="1851660"/>
          </a:xfrm>
          <a:prstGeom prst="arc">
            <a:avLst/>
          </a:prstGeom>
          <a:solidFill>
            <a:srgbClr val="E93D35">
              <a:alpha val="0"/>
            </a:srgbClr>
          </a:solidFill>
          <a:ln w="50800">
            <a:solidFill>
              <a:srgbClr val="FFFFFF">
                <a:alpha val="96000"/>
              </a:srgbClr>
            </a:solidFill>
            <a:prstDash val="solid"/>
          </a:ln>
        </p:spPr>
      </p:sp>
      <p:sp>
        <p:nvSpPr>
          <p:cNvPr id="10" name="Shape 8"/>
          <p:cNvSpPr/>
          <p:nvPr/>
        </p:nvSpPr>
        <p:spPr>
          <a:xfrm>
            <a:off x="2944825" y="2461565"/>
            <a:ext cx="1330452" cy="1925726"/>
          </a:xfrm>
          <a:prstGeom prst="arc">
            <a:avLst/>
          </a:prstGeom>
          <a:solidFill>
            <a:srgbClr val="1C7ED6">
              <a:alpha val="0"/>
            </a:srgbClr>
          </a:solidFill>
          <a:ln w="50800">
            <a:solidFill>
              <a:srgbClr val="FFFFFF">
                <a:alpha val="96000"/>
              </a:srgbClr>
            </a:solidFill>
            <a:prstDash val="solid"/>
          </a:ln>
        </p:spPr>
      </p:sp>
      <p:sp>
        <p:nvSpPr>
          <p:cNvPr id="11" name="Shape 9"/>
          <p:cNvSpPr/>
          <p:nvPr/>
        </p:nvSpPr>
        <p:spPr>
          <a:xfrm>
            <a:off x="2368296" y="2387498"/>
            <a:ext cx="256032" cy="256032"/>
          </a:xfrm>
          <a:prstGeom prst="ellipse">
            <a:avLst/>
          </a:prstGeom>
          <a:solidFill>
            <a:srgbClr val="FFFFFF"/>
          </a:solidFill>
          <a:ln w="12700">
            <a:solidFill>
              <a:srgbClr val="FFFFFF"/>
            </a:solidFill>
            <a:prstDash val="solid"/>
          </a:ln>
        </p:spPr>
      </p:sp>
      <p:sp>
        <p:nvSpPr>
          <p:cNvPr id="12" name="Shape 10"/>
          <p:cNvSpPr/>
          <p:nvPr/>
        </p:nvSpPr>
        <p:spPr>
          <a:xfrm>
            <a:off x="2944825" y="2276399"/>
            <a:ext cx="256032" cy="256032"/>
          </a:xfrm>
          <a:prstGeom prst="ellipse">
            <a:avLst/>
          </a:prstGeom>
          <a:solidFill>
            <a:srgbClr val="FFFFFF"/>
          </a:solidFill>
          <a:ln w="12700">
            <a:solidFill>
              <a:srgbClr val="FFFFFF"/>
            </a:solidFill>
            <a:prstDash val="solid"/>
          </a:ln>
        </p:spPr>
      </p:sp>
      <p:sp>
        <p:nvSpPr>
          <p:cNvPr id="13" name="Shape 11"/>
          <p:cNvSpPr/>
          <p:nvPr/>
        </p:nvSpPr>
        <p:spPr>
          <a:xfrm>
            <a:off x="822960" y="4946904"/>
            <a:ext cx="320040" cy="0"/>
          </a:xfrm>
          <a:prstGeom prst="line">
            <a:avLst/>
          </a:prstGeom>
          <a:noFill/>
          <a:ln w="12700">
            <a:solidFill>
              <a:srgbClr val="FFFFFF">
                <a:alpha val="60000"/>
              </a:srgbClr>
            </a:solidFill>
            <a:prstDash val="solid"/>
          </a:ln>
        </p:spPr>
      </p:sp>
      <p:sp>
        <p:nvSpPr>
          <p:cNvPr id="14" name="Shape 12"/>
          <p:cNvSpPr/>
          <p:nvPr/>
        </p:nvSpPr>
        <p:spPr>
          <a:xfrm>
            <a:off x="1391194" y="4873752"/>
            <a:ext cx="320040" cy="0"/>
          </a:xfrm>
          <a:prstGeom prst="line">
            <a:avLst/>
          </a:prstGeom>
          <a:noFill/>
          <a:ln w="12700">
            <a:solidFill>
              <a:srgbClr val="FFFFFF">
                <a:alpha val="60000"/>
              </a:srgbClr>
            </a:solidFill>
            <a:prstDash val="solid"/>
          </a:ln>
        </p:spPr>
      </p:sp>
      <p:sp>
        <p:nvSpPr>
          <p:cNvPr id="15" name="Shape 13"/>
          <p:cNvSpPr/>
          <p:nvPr/>
        </p:nvSpPr>
        <p:spPr>
          <a:xfrm>
            <a:off x="1959429" y="4946904"/>
            <a:ext cx="320040" cy="0"/>
          </a:xfrm>
          <a:prstGeom prst="line">
            <a:avLst/>
          </a:prstGeom>
          <a:noFill/>
          <a:ln w="12700">
            <a:solidFill>
              <a:srgbClr val="FFFFFF">
                <a:alpha val="60000"/>
              </a:srgbClr>
            </a:solidFill>
            <a:prstDash val="solid"/>
          </a:ln>
        </p:spPr>
      </p:sp>
      <p:sp>
        <p:nvSpPr>
          <p:cNvPr id="16" name="Shape 14"/>
          <p:cNvSpPr/>
          <p:nvPr/>
        </p:nvSpPr>
        <p:spPr>
          <a:xfrm>
            <a:off x="2527663" y="4873752"/>
            <a:ext cx="320040" cy="0"/>
          </a:xfrm>
          <a:prstGeom prst="line">
            <a:avLst/>
          </a:prstGeom>
          <a:noFill/>
          <a:ln w="12700">
            <a:solidFill>
              <a:srgbClr val="FFFFFF">
                <a:alpha val="60000"/>
              </a:srgbClr>
            </a:solidFill>
            <a:prstDash val="solid"/>
          </a:ln>
        </p:spPr>
      </p:sp>
      <p:sp>
        <p:nvSpPr>
          <p:cNvPr id="17" name="Shape 15"/>
          <p:cNvSpPr/>
          <p:nvPr/>
        </p:nvSpPr>
        <p:spPr>
          <a:xfrm>
            <a:off x="3095897" y="4946904"/>
            <a:ext cx="320040" cy="0"/>
          </a:xfrm>
          <a:prstGeom prst="line">
            <a:avLst/>
          </a:prstGeom>
          <a:noFill/>
          <a:ln w="12700">
            <a:solidFill>
              <a:srgbClr val="FFFFFF">
                <a:alpha val="60000"/>
              </a:srgbClr>
            </a:solidFill>
            <a:prstDash val="solid"/>
          </a:ln>
        </p:spPr>
      </p:sp>
      <p:sp>
        <p:nvSpPr>
          <p:cNvPr id="18" name="Shape 16"/>
          <p:cNvSpPr/>
          <p:nvPr/>
        </p:nvSpPr>
        <p:spPr>
          <a:xfrm>
            <a:off x="3664131" y="4873752"/>
            <a:ext cx="320040" cy="0"/>
          </a:xfrm>
          <a:prstGeom prst="line">
            <a:avLst/>
          </a:prstGeom>
          <a:noFill/>
          <a:ln w="12700">
            <a:solidFill>
              <a:srgbClr val="FFFFFF">
                <a:alpha val="60000"/>
              </a:srgbClr>
            </a:solidFill>
            <a:prstDash val="solid"/>
          </a:ln>
        </p:spPr>
      </p:sp>
      <p:sp>
        <p:nvSpPr>
          <p:cNvPr id="19" name="Shape 17"/>
          <p:cNvSpPr/>
          <p:nvPr/>
        </p:nvSpPr>
        <p:spPr>
          <a:xfrm>
            <a:off x="4232366" y="4946904"/>
            <a:ext cx="320040" cy="0"/>
          </a:xfrm>
          <a:prstGeom prst="line">
            <a:avLst/>
          </a:prstGeom>
          <a:noFill/>
          <a:ln w="12700">
            <a:solidFill>
              <a:srgbClr val="FFFFFF">
                <a:alpha val="60000"/>
              </a:srgbClr>
            </a:solidFill>
            <a:prstDash val="solid"/>
          </a:ln>
        </p:spPr>
      </p:sp>
      <p:sp>
        <p:nvSpPr>
          <p:cNvPr id="20" name="Shape 18"/>
          <p:cNvSpPr/>
          <p:nvPr/>
        </p:nvSpPr>
        <p:spPr>
          <a:xfrm>
            <a:off x="4800600" y="4873752"/>
            <a:ext cx="320040" cy="0"/>
          </a:xfrm>
          <a:prstGeom prst="line">
            <a:avLst/>
          </a:prstGeom>
          <a:noFill/>
          <a:ln w="12700">
            <a:solidFill>
              <a:srgbClr val="FFFFFF">
                <a:alpha val="60000"/>
              </a:srgbClr>
            </a:solidFill>
            <a:prstDash val="solid"/>
          </a:ln>
        </p:spPr>
      </p:sp>
      <p:sp>
        <p:nvSpPr>
          <p:cNvPr id="21" name="Text 19"/>
          <p:cNvSpPr/>
          <p:nvPr/>
        </p:nvSpPr>
        <p:spPr>
          <a:xfrm>
            <a:off x="768096" y="5504688"/>
            <a:ext cx="1097280" cy="182880"/>
          </a:xfrm>
          <a:prstGeom prst="rect">
            <a:avLst/>
          </a:prstGeom>
          <a:noFill/>
          <a:ln/>
        </p:spPr>
        <p:txBody>
          <a:bodyPr wrap="square" lIns="0" tIns="0" rIns="0" bIns="0" rtlCol="0" anchor="ctr"/>
          <a:lstStyle/>
          <a:p>
            <a:pPr indent="0" marL="0">
              <a:buNone/>
            </a:pPr>
            <a:r>
              <a:rPr lang="en-US" sz="900" b="1" dirty="0">
                <a:solidFill>
                  <a:srgbClr val="E93D35"/>
                </a:solidFill>
              </a:rPr>
              <a:t>代表作品</a:t>
            </a:r>
            <a:endParaRPr lang="en-US" sz="900" dirty="0"/>
          </a:p>
        </p:txBody>
      </p:sp>
      <p:sp>
        <p:nvSpPr>
          <p:cNvPr id="22" name="Text 20"/>
          <p:cNvSpPr/>
          <p:nvPr/>
        </p:nvSpPr>
        <p:spPr>
          <a:xfrm>
            <a:off x="768096" y="5742432"/>
            <a:ext cx="3931920" cy="256032"/>
          </a:xfrm>
          <a:prstGeom prst="rect">
            <a:avLst/>
          </a:prstGeom>
          <a:noFill/>
          <a:ln/>
        </p:spPr>
        <p:txBody>
          <a:bodyPr wrap="square" lIns="0" tIns="0" rIns="0" bIns="0" rtlCol="0" anchor="ctr"/>
          <a:lstStyle/>
          <a:p>
            <a:pPr indent="0" marL="0">
              <a:buNone/>
            </a:pPr>
            <a:r>
              <a:rPr lang="en-US" sz="1400" b="1" dirty="0">
                <a:solidFill>
                  <a:srgbClr val="111111"/>
                </a:solidFill>
              </a:rPr>
              <a:t>Nike《You Can’t Stop Us》</a:t>
            </a:r>
            <a:endParaRPr lang="en-US" sz="1400" dirty="0"/>
          </a:p>
        </p:txBody>
      </p:sp>
      <p:sp>
        <p:nvSpPr>
          <p:cNvPr id="23" name="Text 21"/>
          <p:cNvSpPr/>
          <p:nvPr/>
        </p:nvSpPr>
        <p:spPr>
          <a:xfrm>
            <a:off x="5532120" y="1572768"/>
            <a:ext cx="1234440" cy="201168"/>
          </a:xfrm>
          <a:prstGeom prst="rect">
            <a:avLst/>
          </a:prstGeom>
          <a:noFill/>
          <a:ln/>
        </p:spPr>
        <p:txBody>
          <a:bodyPr wrap="square" lIns="0" tIns="0" rIns="0" bIns="0" rtlCol="0" anchor="ctr"/>
          <a:lstStyle/>
          <a:p>
            <a:pPr indent="0" marL="0">
              <a:buNone/>
            </a:pPr>
            <a:r>
              <a:rPr lang="en-US" sz="950" b="1" dirty="0">
                <a:solidFill>
                  <a:srgbClr val="E93D35"/>
                </a:solidFill>
              </a:rPr>
              <a:t>作品类型</a:t>
            </a:r>
            <a:endParaRPr lang="en-US" sz="950" dirty="0"/>
          </a:p>
        </p:txBody>
      </p:sp>
      <p:sp>
        <p:nvSpPr>
          <p:cNvPr id="24" name="Text 22"/>
          <p:cNvSpPr/>
          <p:nvPr/>
        </p:nvSpPr>
        <p:spPr>
          <a:xfrm>
            <a:off x="6812280" y="1554480"/>
            <a:ext cx="4297680" cy="310896"/>
          </a:xfrm>
          <a:prstGeom prst="rect">
            <a:avLst/>
          </a:prstGeom>
          <a:noFill/>
          <a:ln/>
        </p:spPr>
        <p:txBody>
          <a:bodyPr wrap="square" lIns="0" tIns="0" rIns="0" bIns="0" rtlCol="0" anchor="ctr">
            <a:normAutofit/>
          </a:bodyPr>
          <a:lstStyle/>
          <a:p>
            <a:pPr indent="0" marL="0">
              <a:buNone/>
            </a:pPr>
            <a:r>
              <a:rPr lang="en-US" sz="1200" dirty="0">
                <a:solidFill>
                  <a:srgbClr val="111111"/>
                </a:solidFill>
              </a:rPr>
              <a:t>品牌广告短片 / 体育影像拼贴 / 分屏蒙太奇</a:t>
            </a:r>
            <a:endParaRPr lang="en-US" sz="1200" dirty="0"/>
          </a:p>
        </p:txBody>
      </p:sp>
      <p:sp>
        <p:nvSpPr>
          <p:cNvPr id="25" name="Shape 23"/>
          <p:cNvSpPr/>
          <p:nvPr/>
        </p:nvSpPr>
        <p:spPr>
          <a:xfrm>
            <a:off x="5532120" y="1965960"/>
            <a:ext cx="5440680" cy="0"/>
          </a:xfrm>
          <a:prstGeom prst="line">
            <a:avLst/>
          </a:prstGeom>
          <a:noFill/>
          <a:ln w="10160">
            <a:solidFill>
              <a:srgbClr val="DDD6CB"/>
            </a:solidFill>
            <a:prstDash val="solid"/>
          </a:ln>
        </p:spPr>
      </p:sp>
      <p:sp>
        <p:nvSpPr>
          <p:cNvPr id="26" name="Text 24"/>
          <p:cNvSpPr/>
          <p:nvPr/>
        </p:nvSpPr>
        <p:spPr>
          <a:xfrm>
            <a:off x="5532120" y="2231136"/>
            <a:ext cx="1234440" cy="201168"/>
          </a:xfrm>
          <a:prstGeom prst="rect">
            <a:avLst/>
          </a:prstGeom>
          <a:noFill/>
          <a:ln/>
        </p:spPr>
        <p:txBody>
          <a:bodyPr wrap="square" lIns="0" tIns="0" rIns="0" bIns="0" rtlCol="0" anchor="ctr"/>
          <a:lstStyle/>
          <a:p>
            <a:pPr indent="0" marL="0">
              <a:buNone/>
            </a:pPr>
            <a:r>
              <a:rPr lang="en-US" sz="950" b="1" dirty="0">
                <a:solidFill>
                  <a:srgbClr val="E93D35"/>
                </a:solidFill>
              </a:rPr>
              <a:t>发布时间</a:t>
            </a:r>
            <a:endParaRPr lang="en-US" sz="950" dirty="0"/>
          </a:p>
        </p:txBody>
      </p:sp>
      <p:sp>
        <p:nvSpPr>
          <p:cNvPr id="27" name="Text 25"/>
          <p:cNvSpPr/>
          <p:nvPr/>
        </p:nvSpPr>
        <p:spPr>
          <a:xfrm>
            <a:off x="6812280" y="2212848"/>
            <a:ext cx="4297680" cy="310896"/>
          </a:xfrm>
          <a:prstGeom prst="rect">
            <a:avLst/>
          </a:prstGeom>
          <a:noFill/>
          <a:ln/>
        </p:spPr>
        <p:txBody>
          <a:bodyPr wrap="square" lIns="0" tIns="0" rIns="0" bIns="0" rtlCol="0" anchor="ctr">
            <a:normAutofit/>
          </a:bodyPr>
          <a:lstStyle/>
          <a:p>
            <a:pPr indent="0" marL="0">
              <a:buNone/>
            </a:pPr>
            <a:r>
              <a:rPr lang="en-US" sz="1200" dirty="0">
                <a:solidFill>
                  <a:srgbClr val="111111"/>
                </a:solidFill>
              </a:rPr>
              <a:t>2020 年 7 月</a:t>
            </a:r>
            <a:endParaRPr lang="en-US" sz="1200" dirty="0"/>
          </a:p>
        </p:txBody>
      </p:sp>
      <p:sp>
        <p:nvSpPr>
          <p:cNvPr id="28" name="Shape 26"/>
          <p:cNvSpPr/>
          <p:nvPr/>
        </p:nvSpPr>
        <p:spPr>
          <a:xfrm>
            <a:off x="5532120" y="2624328"/>
            <a:ext cx="5440680" cy="0"/>
          </a:xfrm>
          <a:prstGeom prst="line">
            <a:avLst/>
          </a:prstGeom>
          <a:noFill/>
          <a:ln w="10160">
            <a:solidFill>
              <a:srgbClr val="DDD6CB"/>
            </a:solidFill>
            <a:prstDash val="solid"/>
          </a:ln>
        </p:spPr>
      </p:sp>
      <p:sp>
        <p:nvSpPr>
          <p:cNvPr id="29" name="Text 27"/>
          <p:cNvSpPr/>
          <p:nvPr/>
        </p:nvSpPr>
        <p:spPr>
          <a:xfrm>
            <a:off x="5532120" y="2889504"/>
            <a:ext cx="1234440" cy="201168"/>
          </a:xfrm>
          <a:prstGeom prst="rect">
            <a:avLst/>
          </a:prstGeom>
          <a:noFill/>
          <a:ln/>
        </p:spPr>
        <p:txBody>
          <a:bodyPr wrap="square" lIns="0" tIns="0" rIns="0" bIns="0" rtlCol="0" anchor="ctr"/>
          <a:lstStyle/>
          <a:p>
            <a:pPr indent="0" marL="0">
              <a:buNone/>
            </a:pPr>
            <a:r>
              <a:rPr lang="en-US" sz="950" b="1" dirty="0">
                <a:solidFill>
                  <a:srgbClr val="E93D35"/>
                </a:solidFill>
              </a:rPr>
              <a:t>品牌与代理</a:t>
            </a:r>
            <a:endParaRPr lang="en-US" sz="950" dirty="0"/>
          </a:p>
        </p:txBody>
      </p:sp>
      <p:sp>
        <p:nvSpPr>
          <p:cNvPr id="30" name="Text 28"/>
          <p:cNvSpPr/>
          <p:nvPr/>
        </p:nvSpPr>
        <p:spPr>
          <a:xfrm>
            <a:off x="6812280" y="2871216"/>
            <a:ext cx="4297680" cy="310896"/>
          </a:xfrm>
          <a:prstGeom prst="rect">
            <a:avLst/>
          </a:prstGeom>
          <a:noFill/>
          <a:ln/>
        </p:spPr>
        <p:txBody>
          <a:bodyPr wrap="square" lIns="0" tIns="0" rIns="0" bIns="0" rtlCol="0" anchor="ctr">
            <a:normAutofit/>
          </a:bodyPr>
          <a:lstStyle/>
          <a:p>
            <a:pPr indent="0" marL="0">
              <a:buNone/>
            </a:pPr>
            <a:r>
              <a:rPr lang="en-US" sz="1200" dirty="0">
                <a:solidFill>
                  <a:srgbClr val="111111"/>
                </a:solidFill>
              </a:rPr>
              <a:t>Nike；Wieden+Kennedy Portland</a:t>
            </a:r>
            <a:endParaRPr lang="en-US" sz="1200" dirty="0"/>
          </a:p>
        </p:txBody>
      </p:sp>
      <p:sp>
        <p:nvSpPr>
          <p:cNvPr id="31" name="Shape 29"/>
          <p:cNvSpPr/>
          <p:nvPr/>
        </p:nvSpPr>
        <p:spPr>
          <a:xfrm>
            <a:off x="5532120" y="3282696"/>
            <a:ext cx="5440680" cy="0"/>
          </a:xfrm>
          <a:prstGeom prst="line">
            <a:avLst/>
          </a:prstGeom>
          <a:noFill/>
          <a:ln w="10160">
            <a:solidFill>
              <a:srgbClr val="DDD6CB"/>
            </a:solidFill>
            <a:prstDash val="solid"/>
          </a:ln>
        </p:spPr>
      </p:sp>
      <p:sp>
        <p:nvSpPr>
          <p:cNvPr id="32" name="Text 30"/>
          <p:cNvSpPr/>
          <p:nvPr/>
        </p:nvSpPr>
        <p:spPr>
          <a:xfrm>
            <a:off x="5532120" y="3547872"/>
            <a:ext cx="1234440" cy="201168"/>
          </a:xfrm>
          <a:prstGeom prst="rect">
            <a:avLst/>
          </a:prstGeom>
          <a:noFill/>
          <a:ln/>
        </p:spPr>
        <p:txBody>
          <a:bodyPr wrap="square" lIns="0" tIns="0" rIns="0" bIns="0" rtlCol="0" anchor="ctr"/>
          <a:lstStyle/>
          <a:p>
            <a:pPr indent="0" marL="0">
              <a:buNone/>
            </a:pPr>
            <a:r>
              <a:rPr lang="en-US" sz="950" b="1" dirty="0">
                <a:solidFill>
                  <a:srgbClr val="E93D35"/>
                </a:solidFill>
              </a:rPr>
              <a:t>旁白</a:t>
            </a:r>
            <a:endParaRPr lang="en-US" sz="950" dirty="0"/>
          </a:p>
        </p:txBody>
      </p:sp>
      <p:sp>
        <p:nvSpPr>
          <p:cNvPr id="33" name="Text 31"/>
          <p:cNvSpPr/>
          <p:nvPr/>
        </p:nvSpPr>
        <p:spPr>
          <a:xfrm>
            <a:off x="6812280" y="3529584"/>
            <a:ext cx="4297680" cy="310896"/>
          </a:xfrm>
          <a:prstGeom prst="rect">
            <a:avLst/>
          </a:prstGeom>
          <a:noFill/>
          <a:ln/>
        </p:spPr>
        <p:txBody>
          <a:bodyPr wrap="square" lIns="0" tIns="0" rIns="0" bIns="0" rtlCol="0" anchor="ctr">
            <a:normAutofit/>
          </a:bodyPr>
          <a:lstStyle/>
          <a:p>
            <a:pPr indent="0" marL="0">
              <a:buNone/>
            </a:pPr>
            <a:r>
              <a:rPr lang="en-US" sz="1200" dirty="0">
                <a:solidFill>
                  <a:srgbClr val="111111"/>
                </a:solidFill>
              </a:rPr>
              <a:t>Megan Rapinoe</a:t>
            </a:r>
            <a:endParaRPr lang="en-US" sz="1200" dirty="0"/>
          </a:p>
        </p:txBody>
      </p:sp>
      <p:sp>
        <p:nvSpPr>
          <p:cNvPr id="34" name="Shape 32"/>
          <p:cNvSpPr/>
          <p:nvPr/>
        </p:nvSpPr>
        <p:spPr>
          <a:xfrm>
            <a:off x="5532120" y="3941064"/>
            <a:ext cx="5440680" cy="0"/>
          </a:xfrm>
          <a:prstGeom prst="line">
            <a:avLst/>
          </a:prstGeom>
          <a:noFill/>
          <a:ln w="10160">
            <a:solidFill>
              <a:srgbClr val="DDD6CB"/>
            </a:solidFill>
            <a:prstDash val="solid"/>
          </a:ln>
        </p:spPr>
      </p:sp>
      <p:sp>
        <p:nvSpPr>
          <p:cNvPr id="35" name="Text 33"/>
          <p:cNvSpPr/>
          <p:nvPr/>
        </p:nvSpPr>
        <p:spPr>
          <a:xfrm>
            <a:off x="5532120" y="4206240"/>
            <a:ext cx="1234440" cy="201168"/>
          </a:xfrm>
          <a:prstGeom prst="rect">
            <a:avLst/>
          </a:prstGeom>
          <a:noFill/>
          <a:ln/>
        </p:spPr>
        <p:txBody>
          <a:bodyPr wrap="square" lIns="0" tIns="0" rIns="0" bIns="0" rtlCol="0" anchor="ctr"/>
          <a:lstStyle/>
          <a:p>
            <a:pPr indent="0" marL="0">
              <a:buNone/>
            </a:pPr>
            <a:r>
              <a:rPr lang="en-US" sz="950" b="1" dirty="0">
                <a:solidFill>
                  <a:srgbClr val="E93D35"/>
                </a:solidFill>
              </a:rPr>
              <a:t>核心形式</a:t>
            </a:r>
            <a:endParaRPr lang="en-US" sz="950" dirty="0"/>
          </a:p>
        </p:txBody>
      </p:sp>
      <p:sp>
        <p:nvSpPr>
          <p:cNvPr id="36" name="Text 34"/>
          <p:cNvSpPr/>
          <p:nvPr/>
        </p:nvSpPr>
        <p:spPr>
          <a:xfrm>
            <a:off x="6812280" y="4187952"/>
            <a:ext cx="4297680" cy="310896"/>
          </a:xfrm>
          <a:prstGeom prst="rect">
            <a:avLst/>
          </a:prstGeom>
          <a:noFill/>
          <a:ln/>
        </p:spPr>
        <p:txBody>
          <a:bodyPr wrap="square" lIns="0" tIns="0" rIns="0" bIns="0" rtlCol="0" anchor="ctr">
            <a:normAutofit/>
          </a:bodyPr>
          <a:lstStyle/>
          <a:p>
            <a:pPr indent="0" marL="0">
              <a:buNone/>
            </a:pPr>
            <a:r>
              <a:rPr lang="en-US" sz="1200" dirty="0">
                <a:solidFill>
                  <a:srgbClr val="111111"/>
                </a:solidFill>
              </a:rPr>
              <a:t>36 组分屏画面，将 72 个运动镜头进行动作与构图匹配</a:t>
            </a:r>
            <a:endParaRPr lang="en-US" sz="1200" dirty="0"/>
          </a:p>
        </p:txBody>
      </p:sp>
      <p:sp>
        <p:nvSpPr>
          <p:cNvPr id="37" name="Shape 35"/>
          <p:cNvSpPr/>
          <p:nvPr/>
        </p:nvSpPr>
        <p:spPr>
          <a:xfrm>
            <a:off x="5532120" y="4599432"/>
            <a:ext cx="5440680" cy="0"/>
          </a:xfrm>
          <a:prstGeom prst="line">
            <a:avLst/>
          </a:prstGeom>
          <a:noFill/>
          <a:ln w="10160">
            <a:solidFill>
              <a:srgbClr val="DDD6CB"/>
            </a:solidFill>
            <a:prstDash val="solid"/>
          </a:ln>
        </p:spPr>
      </p:sp>
      <p:sp>
        <p:nvSpPr>
          <p:cNvPr id="38" name="Text 36"/>
          <p:cNvSpPr/>
          <p:nvPr/>
        </p:nvSpPr>
        <p:spPr>
          <a:xfrm>
            <a:off x="5532120" y="4864608"/>
            <a:ext cx="1234440" cy="201168"/>
          </a:xfrm>
          <a:prstGeom prst="rect">
            <a:avLst/>
          </a:prstGeom>
          <a:noFill/>
          <a:ln/>
        </p:spPr>
        <p:txBody>
          <a:bodyPr wrap="square" lIns="0" tIns="0" rIns="0" bIns="0" rtlCol="0" anchor="ctr"/>
          <a:lstStyle/>
          <a:p>
            <a:pPr indent="0" marL="0">
              <a:buNone/>
            </a:pPr>
            <a:r>
              <a:rPr lang="en-US" sz="950" b="1" dirty="0">
                <a:solidFill>
                  <a:srgbClr val="E93D35"/>
                </a:solidFill>
              </a:rPr>
              <a:t>传播主题</a:t>
            </a:r>
            <a:endParaRPr lang="en-US" sz="950" dirty="0"/>
          </a:p>
        </p:txBody>
      </p:sp>
      <p:sp>
        <p:nvSpPr>
          <p:cNvPr id="39" name="Text 37"/>
          <p:cNvSpPr/>
          <p:nvPr/>
        </p:nvSpPr>
        <p:spPr>
          <a:xfrm>
            <a:off x="6812280" y="4846320"/>
            <a:ext cx="4297680" cy="310896"/>
          </a:xfrm>
          <a:prstGeom prst="rect">
            <a:avLst/>
          </a:prstGeom>
          <a:noFill/>
          <a:ln/>
        </p:spPr>
        <p:txBody>
          <a:bodyPr wrap="square" lIns="0" tIns="0" rIns="0" bIns="0" rtlCol="0" anchor="ctr">
            <a:normAutofit/>
          </a:bodyPr>
          <a:lstStyle/>
          <a:p>
            <a:pPr indent="0" marL="0">
              <a:buNone/>
            </a:pPr>
            <a:r>
              <a:rPr lang="en-US" sz="1200" dirty="0">
                <a:solidFill>
                  <a:srgbClr val="111111"/>
                </a:solidFill>
              </a:rPr>
              <a:t>You Can’t Stop Us：困境中仍保持连接、行动与希望</a:t>
            </a:r>
            <a:endParaRPr lang="en-US" sz="1200" dirty="0"/>
          </a:p>
        </p:txBody>
      </p:sp>
      <p:sp>
        <p:nvSpPr>
          <p:cNvPr id="40" name="Shape 38"/>
          <p:cNvSpPr/>
          <p:nvPr/>
        </p:nvSpPr>
        <p:spPr>
          <a:xfrm>
            <a:off x="5532120" y="5257800"/>
            <a:ext cx="5440680" cy="0"/>
          </a:xfrm>
          <a:prstGeom prst="line">
            <a:avLst/>
          </a:prstGeom>
          <a:noFill/>
          <a:ln w="10160">
            <a:solidFill>
              <a:srgbClr val="DDD6CB"/>
            </a:solidFill>
            <a:prstDash val="solid"/>
          </a:ln>
        </p:spPr>
      </p:sp>
      <p:sp>
        <p:nvSpPr>
          <p:cNvPr id="41" name="Text 39"/>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DF8"/>
          </a:solidFill>
          <a:ln w="12700">
            <a:solidFill>
              <a:srgbClr val="FFFDF8"/>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WHY THIS WORK</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为什么它具有“综合影像”代表性</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Shape 4"/>
          <p:cNvSpPr/>
          <p:nvPr/>
        </p:nvSpPr>
        <p:spPr>
          <a:xfrm>
            <a:off x="658368" y="1691640"/>
            <a:ext cx="4983480" cy="1481328"/>
          </a:xfrm>
          <a:prstGeom prst="roundRect">
            <a:avLst>
              <a:gd name="adj" fmla="val 4938"/>
            </a:avLst>
          </a:prstGeom>
          <a:solidFill>
            <a:srgbClr val="FFF1F0"/>
          </a:solidFill>
          <a:ln w="12700">
            <a:solidFill>
              <a:srgbClr val="F0C6C1"/>
            </a:solidFill>
            <a:prstDash val="solid"/>
          </a:ln>
        </p:spPr>
      </p:sp>
      <p:sp>
        <p:nvSpPr>
          <p:cNvPr id="7" name="Text 5"/>
          <p:cNvSpPr/>
          <p:nvPr/>
        </p:nvSpPr>
        <p:spPr>
          <a:xfrm>
            <a:off x="914400" y="1947672"/>
            <a:ext cx="475488" cy="219456"/>
          </a:xfrm>
          <a:prstGeom prst="rect">
            <a:avLst/>
          </a:prstGeom>
          <a:noFill/>
          <a:ln/>
        </p:spPr>
        <p:txBody>
          <a:bodyPr wrap="square" lIns="0" tIns="0" rIns="0" bIns="0" rtlCol="0" anchor="ctr"/>
          <a:lstStyle/>
          <a:p>
            <a:pPr indent="0" marL="0">
              <a:buNone/>
            </a:pPr>
            <a:r>
              <a:rPr lang="en-US" sz="1300" b="1" dirty="0">
                <a:solidFill>
                  <a:srgbClr val="E93D35"/>
                </a:solidFill>
              </a:rPr>
              <a:t>01</a:t>
            </a:r>
            <a:endParaRPr lang="en-US" sz="1300" dirty="0"/>
          </a:p>
        </p:txBody>
      </p:sp>
      <p:sp>
        <p:nvSpPr>
          <p:cNvPr id="8" name="Text 6"/>
          <p:cNvSpPr/>
          <p:nvPr/>
        </p:nvSpPr>
        <p:spPr>
          <a:xfrm>
            <a:off x="1527048" y="1938528"/>
            <a:ext cx="3657600" cy="219456"/>
          </a:xfrm>
          <a:prstGeom prst="rect">
            <a:avLst/>
          </a:prstGeom>
          <a:noFill/>
          <a:ln/>
        </p:spPr>
        <p:txBody>
          <a:bodyPr wrap="square" lIns="0" tIns="0" rIns="0" bIns="0" rtlCol="0" anchor="ctr"/>
          <a:lstStyle/>
          <a:p>
            <a:pPr indent="0" marL="0">
              <a:buNone/>
            </a:pPr>
            <a:r>
              <a:rPr lang="en-US" sz="1400" b="1" dirty="0">
                <a:solidFill>
                  <a:srgbClr val="111111"/>
                </a:solidFill>
              </a:rPr>
              <a:t>素材来源综合</a:t>
            </a:r>
            <a:endParaRPr lang="en-US" sz="1400" dirty="0"/>
          </a:p>
        </p:txBody>
      </p:sp>
      <p:sp>
        <p:nvSpPr>
          <p:cNvPr id="9" name="Text 7"/>
          <p:cNvSpPr/>
          <p:nvPr/>
        </p:nvSpPr>
        <p:spPr>
          <a:xfrm>
            <a:off x="1527048" y="2377440"/>
            <a:ext cx="3703320" cy="566928"/>
          </a:xfrm>
          <a:prstGeom prst="rect">
            <a:avLst/>
          </a:prstGeom>
          <a:noFill/>
          <a:ln/>
        </p:spPr>
        <p:txBody>
          <a:bodyPr wrap="square" lIns="0" tIns="0" rIns="0" bIns="0" rtlCol="0" anchor="ctr">
            <a:normAutofit/>
          </a:bodyPr>
          <a:lstStyle/>
          <a:p>
            <a:pPr indent="0" marL="0">
              <a:buNone/>
            </a:pPr>
            <a:r>
              <a:rPr lang="en-US" sz="1060" dirty="0">
                <a:solidFill>
                  <a:srgbClr val="1F2937"/>
                </a:solidFill>
              </a:rPr>
              <a:t>作品并非单一拍摄场景，而是把不同赛事、运动项目、国家地区与人物身份的影像重新组织。</a:t>
            </a:r>
            <a:endParaRPr lang="en-US" sz="1060" dirty="0"/>
          </a:p>
        </p:txBody>
      </p:sp>
      <p:sp>
        <p:nvSpPr>
          <p:cNvPr id="10" name="Shape 8"/>
          <p:cNvSpPr/>
          <p:nvPr/>
        </p:nvSpPr>
        <p:spPr>
          <a:xfrm>
            <a:off x="6190488" y="1691640"/>
            <a:ext cx="4983480" cy="1481328"/>
          </a:xfrm>
          <a:prstGeom prst="roundRect">
            <a:avLst>
              <a:gd name="adj" fmla="val 4938"/>
            </a:avLst>
          </a:prstGeom>
          <a:solidFill>
            <a:srgbClr val="F0F7FF"/>
          </a:solidFill>
          <a:ln w="12700">
            <a:solidFill>
              <a:srgbClr val="BBD7F5"/>
            </a:solidFill>
            <a:prstDash val="solid"/>
          </a:ln>
        </p:spPr>
      </p:sp>
      <p:sp>
        <p:nvSpPr>
          <p:cNvPr id="11" name="Text 9"/>
          <p:cNvSpPr/>
          <p:nvPr/>
        </p:nvSpPr>
        <p:spPr>
          <a:xfrm>
            <a:off x="6446520" y="1947672"/>
            <a:ext cx="475488" cy="219456"/>
          </a:xfrm>
          <a:prstGeom prst="rect">
            <a:avLst/>
          </a:prstGeom>
          <a:noFill/>
          <a:ln/>
        </p:spPr>
        <p:txBody>
          <a:bodyPr wrap="square" lIns="0" tIns="0" rIns="0" bIns="0" rtlCol="0" anchor="ctr"/>
          <a:lstStyle/>
          <a:p>
            <a:pPr indent="0" marL="0">
              <a:buNone/>
            </a:pPr>
            <a:r>
              <a:rPr lang="en-US" sz="1300" b="1" dirty="0">
                <a:solidFill>
                  <a:srgbClr val="1C7ED6"/>
                </a:solidFill>
              </a:rPr>
              <a:t>02</a:t>
            </a:r>
            <a:endParaRPr lang="en-US" sz="1300" dirty="0"/>
          </a:p>
        </p:txBody>
      </p:sp>
      <p:sp>
        <p:nvSpPr>
          <p:cNvPr id="12" name="Text 10"/>
          <p:cNvSpPr/>
          <p:nvPr/>
        </p:nvSpPr>
        <p:spPr>
          <a:xfrm>
            <a:off x="7059168" y="1938528"/>
            <a:ext cx="3657600" cy="219456"/>
          </a:xfrm>
          <a:prstGeom prst="rect">
            <a:avLst/>
          </a:prstGeom>
          <a:noFill/>
          <a:ln/>
        </p:spPr>
        <p:txBody>
          <a:bodyPr wrap="square" lIns="0" tIns="0" rIns="0" bIns="0" rtlCol="0" anchor="ctr"/>
          <a:lstStyle/>
          <a:p>
            <a:pPr indent="0" marL="0">
              <a:buNone/>
            </a:pPr>
            <a:r>
              <a:rPr lang="en-US" sz="1400" b="1" dirty="0">
                <a:solidFill>
                  <a:srgbClr val="111111"/>
                </a:solidFill>
              </a:rPr>
              <a:t>媒介形态综合</a:t>
            </a:r>
            <a:endParaRPr lang="en-US" sz="1400" dirty="0"/>
          </a:p>
        </p:txBody>
      </p:sp>
      <p:sp>
        <p:nvSpPr>
          <p:cNvPr id="13" name="Text 11"/>
          <p:cNvSpPr/>
          <p:nvPr/>
        </p:nvSpPr>
        <p:spPr>
          <a:xfrm>
            <a:off x="7059168" y="2377440"/>
            <a:ext cx="3703320" cy="566928"/>
          </a:xfrm>
          <a:prstGeom prst="rect">
            <a:avLst/>
          </a:prstGeom>
          <a:noFill/>
          <a:ln/>
        </p:spPr>
        <p:txBody>
          <a:bodyPr wrap="square" lIns="0" tIns="0" rIns="0" bIns="0" rtlCol="0" anchor="ctr">
            <a:normAutofit/>
          </a:bodyPr>
          <a:lstStyle/>
          <a:p>
            <a:pPr indent="0" marL="0">
              <a:buNone/>
            </a:pPr>
            <a:r>
              <a:rPr lang="en-US" sz="1060" dirty="0">
                <a:solidFill>
                  <a:srgbClr val="1F2937"/>
                </a:solidFill>
              </a:rPr>
              <a:t>它既是广告，也是短片、社交媒体传播内容与体育文化叙事，兼具商业传播和公共情绪表达。</a:t>
            </a:r>
            <a:endParaRPr lang="en-US" sz="1060" dirty="0"/>
          </a:p>
        </p:txBody>
      </p:sp>
      <p:sp>
        <p:nvSpPr>
          <p:cNvPr id="14" name="Shape 12"/>
          <p:cNvSpPr/>
          <p:nvPr/>
        </p:nvSpPr>
        <p:spPr>
          <a:xfrm>
            <a:off x="658368" y="3703320"/>
            <a:ext cx="4983480" cy="1481328"/>
          </a:xfrm>
          <a:prstGeom prst="roundRect">
            <a:avLst>
              <a:gd name="adj" fmla="val 4938"/>
            </a:avLst>
          </a:prstGeom>
          <a:solidFill>
            <a:srgbClr val="FFF1F0"/>
          </a:solidFill>
          <a:ln w="12700">
            <a:solidFill>
              <a:srgbClr val="F0C6C1"/>
            </a:solidFill>
            <a:prstDash val="solid"/>
          </a:ln>
        </p:spPr>
      </p:sp>
      <p:sp>
        <p:nvSpPr>
          <p:cNvPr id="15" name="Text 13"/>
          <p:cNvSpPr/>
          <p:nvPr/>
        </p:nvSpPr>
        <p:spPr>
          <a:xfrm>
            <a:off x="914400" y="3959352"/>
            <a:ext cx="475488" cy="219456"/>
          </a:xfrm>
          <a:prstGeom prst="rect">
            <a:avLst/>
          </a:prstGeom>
          <a:noFill/>
          <a:ln/>
        </p:spPr>
        <p:txBody>
          <a:bodyPr wrap="square" lIns="0" tIns="0" rIns="0" bIns="0" rtlCol="0" anchor="ctr"/>
          <a:lstStyle/>
          <a:p>
            <a:pPr indent="0" marL="0">
              <a:buNone/>
            </a:pPr>
            <a:r>
              <a:rPr lang="en-US" sz="1300" b="1" dirty="0">
                <a:solidFill>
                  <a:srgbClr val="E93D35"/>
                </a:solidFill>
              </a:rPr>
              <a:t>03</a:t>
            </a:r>
            <a:endParaRPr lang="en-US" sz="1300" dirty="0"/>
          </a:p>
        </p:txBody>
      </p:sp>
      <p:sp>
        <p:nvSpPr>
          <p:cNvPr id="16" name="Text 14"/>
          <p:cNvSpPr/>
          <p:nvPr/>
        </p:nvSpPr>
        <p:spPr>
          <a:xfrm>
            <a:off x="1527048" y="3950208"/>
            <a:ext cx="3657600" cy="219456"/>
          </a:xfrm>
          <a:prstGeom prst="rect">
            <a:avLst/>
          </a:prstGeom>
          <a:noFill/>
          <a:ln/>
        </p:spPr>
        <p:txBody>
          <a:bodyPr wrap="square" lIns="0" tIns="0" rIns="0" bIns="0" rtlCol="0" anchor="ctr"/>
          <a:lstStyle/>
          <a:p>
            <a:pPr indent="0" marL="0">
              <a:buNone/>
            </a:pPr>
            <a:r>
              <a:rPr lang="en-US" sz="1400" b="1" dirty="0">
                <a:solidFill>
                  <a:srgbClr val="111111"/>
                </a:solidFill>
              </a:rPr>
              <a:t>技术语言综合</a:t>
            </a:r>
            <a:endParaRPr lang="en-US" sz="1400" dirty="0"/>
          </a:p>
        </p:txBody>
      </p:sp>
      <p:sp>
        <p:nvSpPr>
          <p:cNvPr id="17" name="Text 15"/>
          <p:cNvSpPr/>
          <p:nvPr/>
        </p:nvSpPr>
        <p:spPr>
          <a:xfrm>
            <a:off x="1527048" y="4389120"/>
            <a:ext cx="3703320" cy="566928"/>
          </a:xfrm>
          <a:prstGeom prst="rect">
            <a:avLst/>
          </a:prstGeom>
          <a:noFill/>
          <a:ln/>
        </p:spPr>
        <p:txBody>
          <a:bodyPr wrap="square" lIns="0" tIns="0" rIns="0" bIns="0" rtlCol="0" anchor="ctr">
            <a:normAutofit/>
          </a:bodyPr>
          <a:lstStyle/>
          <a:p>
            <a:pPr indent="0" marL="0">
              <a:buNone/>
            </a:pPr>
            <a:r>
              <a:rPr lang="en-US" sz="1060" dirty="0">
                <a:solidFill>
                  <a:srgbClr val="1F2937"/>
                </a:solidFill>
              </a:rPr>
              <a:t>分屏、匹配剪辑、档案素材筛选、声音旁白与音乐节奏共同构成意义。</a:t>
            </a:r>
            <a:endParaRPr lang="en-US" sz="1060" dirty="0"/>
          </a:p>
        </p:txBody>
      </p:sp>
      <p:sp>
        <p:nvSpPr>
          <p:cNvPr id="18" name="Shape 16"/>
          <p:cNvSpPr/>
          <p:nvPr/>
        </p:nvSpPr>
        <p:spPr>
          <a:xfrm>
            <a:off x="6190488" y="3703320"/>
            <a:ext cx="4983480" cy="1481328"/>
          </a:xfrm>
          <a:prstGeom prst="roundRect">
            <a:avLst>
              <a:gd name="adj" fmla="val 4938"/>
            </a:avLst>
          </a:prstGeom>
          <a:solidFill>
            <a:srgbClr val="F0F7FF"/>
          </a:solidFill>
          <a:ln w="12700">
            <a:solidFill>
              <a:srgbClr val="BBD7F5"/>
            </a:solidFill>
            <a:prstDash val="solid"/>
          </a:ln>
        </p:spPr>
      </p:sp>
      <p:sp>
        <p:nvSpPr>
          <p:cNvPr id="19" name="Text 17"/>
          <p:cNvSpPr/>
          <p:nvPr/>
        </p:nvSpPr>
        <p:spPr>
          <a:xfrm>
            <a:off x="6446520" y="3959352"/>
            <a:ext cx="475488" cy="219456"/>
          </a:xfrm>
          <a:prstGeom prst="rect">
            <a:avLst/>
          </a:prstGeom>
          <a:noFill/>
          <a:ln/>
        </p:spPr>
        <p:txBody>
          <a:bodyPr wrap="square" lIns="0" tIns="0" rIns="0" bIns="0" rtlCol="0" anchor="ctr"/>
          <a:lstStyle/>
          <a:p>
            <a:pPr indent="0" marL="0">
              <a:buNone/>
            </a:pPr>
            <a:r>
              <a:rPr lang="en-US" sz="1300" b="1" dirty="0">
                <a:solidFill>
                  <a:srgbClr val="1C7ED6"/>
                </a:solidFill>
              </a:rPr>
              <a:t>04</a:t>
            </a:r>
            <a:endParaRPr lang="en-US" sz="1300" dirty="0"/>
          </a:p>
        </p:txBody>
      </p:sp>
      <p:sp>
        <p:nvSpPr>
          <p:cNvPr id="20" name="Text 18"/>
          <p:cNvSpPr/>
          <p:nvPr/>
        </p:nvSpPr>
        <p:spPr>
          <a:xfrm>
            <a:off x="7059168" y="3950208"/>
            <a:ext cx="3657600" cy="219456"/>
          </a:xfrm>
          <a:prstGeom prst="rect">
            <a:avLst/>
          </a:prstGeom>
          <a:noFill/>
          <a:ln/>
        </p:spPr>
        <p:txBody>
          <a:bodyPr wrap="square" lIns="0" tIns="0" rIns="0" bIns="0" rtlCol="0" anchor="ctr"/>
          <a:lstStyle/>
          <a:p>
            <a:pPr indent="0" marL="0">
              <a:buNone/>
            </a:pPr>
            <a:r>
              <a:rPr lang="en-US" sz="1400" b="1" dirty="0">
                <a:solidFill>
                  <a:srgbClr val="111111"/>
                </a:solidFill>
              </a:rPr>
              <a:t>情感主题综合</a:t>
            </a:r>
            <a:endParaRPr lang="en-US" sz="1400" dirty="0"/>
          </a:p>
        </p:txBody>
      </p:sp>
      <p:sp>
        <p:nvSpPr>
          <p:cNvPr id="21" name="Text 19"/>
          <p:cNvSpPr/>
          <p:nvPr/>
        </p:nvSpPr>
        <p:spPr>
          <a:xfrm>
            <a:off x="7059168" y="4389120"/>
            <a:ext cx="3703320" cy="566928"/>
          </a:xfrm>
          <a:prstGeom prst="rect">
            <a:avLst/>
          </a:prstGeom>
          <a:noFill/>
          <a:ln/>
        </p:spPr>
        <p:txBody>
          <a:bodyPr wrap="square" lIns="0" tIns="0" rIns="0" bIns="0" rtlCol="0" anchor="ctr">
            <a:normAutofit/>
          </a:bodyPr>
          <a:lstStyle/>
          <a:p>
            <a:pPr indent="0" marL="0">
              <a:buNone/>
            </a:pPr>
            <a:r>
              <a:rPr lang="en-US" sz="1060" dirty="0">
                <a:solidFill>
                  <a:srgbClr val="1F2937"/>
                </a:solidFill>
              </a:rPr>
              <a:t>从个体动作上升到群体信念，把体育、疫情、平权与共同体经验连接在一起。</a:t>
            </a:r>
            <a:endParaRPr lang="en-US" sz="1060" dirty="0"/>
          </a:p>
        </p:txBody>
      </p:sp>
      <p:sp>
        <p:nvSpPr>
          <p:cNvPr id="22" name="Text 20"/>
          <p:cNvSpPr/>
          <p:nvPr/>
        </p:nvSpPr>
        <p:spPr>
          <a:xfrm>
            <a:off x="960120" y="5760720"/>
            <a:ext cx="10241280" cy="347472"/>
          </a:xfrm>
          <a:prstGeom prst="rect">
            <a:avLst/>
          </a:prstGeom>
          <a:noFill/>
          <a:ln/>
        </p:spPr>
        <p:txBody>
          <a:bodyPr wrap="square" lIns="0" tIns="0" rIns="0" bIns="0" rtlCol="0" anchor="ctr"/>
          <a:lstStyle/>
          <a:p>
            <a:pPr algn="ctr" indent="0" marL="0">
              <a:buNone/>
            </a:pPr>
            <a:r>
              <a:rPr lang="en-US" sz="1300" b="1" dirty="0">
                <a:solidFill>
                  <a:srgbClr val="111111"/>
                </a:solidFill>
              </a:rPr>
              <a:t>结论：它把“不同来源的影像”通过新的剪辑逻辑变成“一个共同叙事”，正体现综合影像的跨媒介、跨素材、跨语境特征。</a:t>
            </a:r>
            <a:endParaRPr lang="en-US" sz="1300" dirty="0"/>
          </a:p>
        </p:txBody>
      </p:sp>
      <p:sp>
        <p:nvSpPr>
          <p:cNvPr id="23" name="Text 21"/>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F"/>
          </a:solidFill>
          <a:ln w="12700">
            <a:solidFill>
              <a:srgbClr val="F7F4E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PART 02</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创作背景与目的</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Shape 4"/>
          <p:cNvSpPr/>
          <p:nvPr/>
        </p:nvSpPr>
        <p:spPr>
          <a:xfrm>
            <a:off x="685800" y="1581912"/>
            <a:ext cx="475488" cy="475488"/>
          </a:xfrm>
          <a:prstGeom prst="ellipse">
            <a:avLst/>
          </a:prstGeom>
          <a:solidFill>
            <a:srgbClr val="E93D35"/>
          </a:solidFill>
          <a:ln w="12700">
            <a:solidFill>
              <a:srgbClr val="E93D35"/>
            </a:solidFill>
            <a:prstDash val="solid"/>
          </a:ln>
        </p:spPr>
      </p:sp>
      <p:sp>
        <p:nvSpPr>
          <p:cNvPr id="7" name="Text 5"/>
          <p:cNvSpPr/>
          <p:nvPr/>
        </p:nvSpPr>
        <p:spPr>
          <a:xfrm>
            <a:off x="685800" y="1700784"/>
            <a:ext cx="475488" cy="13716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1325880" y="1673352"/>
            <a:ext cx="3291840" cy="210312"/>
          </a:xfrm>
          <a:prstGeom prst="rect">
            <a:avLst/>
          </a:prstGeom>
          <a:noFill/>
          <a:ln/>
        </p:spPr>
        <p:txBody>
          <a:bodyPr wrap="square" lIns="0" tIns="0" rIns="0" bIns="0" rtlCol="0" anchor="ctr"/>
          <a:lstStyle/>
          <a:p>
            <a:pPr indent="0" marL="0">
              <a:buNone/>
            </a:pPr>
            <a:r>
              <a:rPr lang="en-US" sz="1200" b="1" dirty="0">
                <a:solidFill>
                  <a:srgbClr val="111111"/>
                </a:solidFill>
              </a:rPr>
              <a:t>特殊时代语境</a:t>
            </a:r>
            <a:endParaRPr lang="en-US" sz="1200" dirty="0"/>
          </a:p>
        </p:txBody>
      </p:sp>
      <p:sp>
        <p:nvSpPr>
          <p:cNvPr id="9" name="Shape 7"/>
          <p:cNvSpPr/>
          <p:nvPr/>
        </p:nvSpPr>
        <p:spPr>
          <a:xfrm>
            <a:off x="685800" y="2980944"/>
            <a:ext cx="475488" cy="475488"/>
          </a:xfrm>
          <a:prstGeom prst="ellipse">
            <a:avLst/>
          </a:prstGeom>
          <a:solidFill>
            <a:srgbClr val="1C7ED6"/>
          </a:solidFill>
          <a:ln w="12700">
            <a:solidFill>
              <a:srgbClr val="1C7ED6"/>
            </a:solidFill>
            <a:prstDash val="solid"/>
          </a:ln>
        </p:spPr>
      </p:sp>
      <p:sp>
        <p:nvSpPr>
          <p:cNvPr id="10" name="Text 8"/>
          <p:cNvSpPr/>
          <p:nvPr/>
        </p:nvSpPr>
        <p:spPr>
          <a:xfrm>
            <a:off x="685800" y="3099816"/>
            <a:ext cx="475488" cy="13716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Text 9"/>
          <p:cNvSpPr/>
          <p:nvPr/>
        </p:nvSpPr>
        <p:spPr>
          <a:xfrm>
            <a:off x="1325880" y="3072384"/>
            <a:ext cx="3291840" cy="210312"/>
          </a:xfrm>
          <a:prstGeom prst="rect">
            <a:avLst/>
          </a:prstGeom>
          <a:noFill/>
          <a:ln/>
        </p:spPr>
        <p:txBody>
          <a:bodyPr wrap="square" lIns="0" tIns="0" rIns="0" bIns="0" rtlCol="0" anchor="ctr"/>
          <a:lstStyle/>
          <a:p>
            <a:pPr indent="0" marL="0">
              <a:buNone/>
            </a:pPr>
            <a:r>
              <a:rPr lang="en-US" sz="1200" b="1" dirty="0">
                <a:solidFill>
                  <a:srgbClr val="111111"/>
                </a:solidFill>
              </a:rPr>
              <a:t>品牌传播目的</a:t>
            </a:r>
            <a:endParaRPr lang="en-US" sz="1200" dirty="0"/>
          </a:p>
        </p:txBody>
      </p:sp>
      <p:sp>
        <p:nvSpPr>
          <p:cNvPr id="12" name="Shape 10"/>
          <p:cNvSpPr/>
          <p:nvPr/>
        </p:nvSpPr>
        <p:spPr>
          <a:xfrm>
            <a:off x="685800" y="4379976"/>
            <a:ext cx="475488" cy="475488"/>
          </a:xfrm>
          <a:prstGeom prst="ellipse">
            <a:avLst/>
          </a:prstGeom>
          <a:solidFill>
            <a:srgbClr val="2F9E44"/>
          </a:solidFill>
          <a:ln w="12700">
            <a:solidFill>
              <a:srgbClr val="2F9E44"/>
            </a:solidFill>
            <a:prstDash val="solid"/>
          </a:ln>
        </p:spPr>
      </p:sp>
      <p:sp>
        <p:nvSpPr>
          <p:cNvPr id="13" name="Text 11"/>
          <p:cNvSpPr/>
          <p:nvPr/>
        </p:nvSpPr>
        <p:spPr>
          <a:xfrm>
            <a:off x="685800" y="4498848"/>
            <a:ext cx="475488" cy="13716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Text 12"/>
          <p:cNvSpPr/>
          <p:nvPr/>
        </p:nvSpPr>
        <p:spPr>
          <a:xfrm>
            <a:off x="1325880" y="4471416"/>
            <a:ext cx="3291840" cy="210312"/>
          </a:xfrm>
          <a:prstGeom prst="rect">
            <a:avLst/>
          </a:prstGeom>
          <a:noFill/>
          <a:ln/>
        </p:spPr>
        <p:txBody>
          <a:bodyPr wrap="square" lIns="0" tIns="0" rIns="0" bIns="0" rtlCol="0" anchor="ctr"/>
          <a:lstStyle/>
          <a:p>
            <a:pPr indent="0" marL="0">
              <a:buNone/>
            </a:pPr>
            <a:r>
              <a:rPr lang="en-US" sz="1200" b="1" dirty="0">
                <a:solidFill>
                  <a:srgbClr val="111111"/>
                </a:solidFill>
              </a:rPr>
              <a:t>情感动员策略</a:t>
            </a:r>
            <a:endParaRPr lang="en-US" sz="1200" dirty="0"/>
          </a:p>
        </p:txBody>
      </p:sp>
      <p:sp>
        <p:nvSpPr>
          <p:cNvPr id="15" name="Text 13"/>
          <p:cNvSpPr/>
          <p:nvPr/>
        </p:nvSpPr>
        <p:spPr>
          <a:xfrm>
            <a:off x="3611880" y="1527048"/>
            <a:ext cx="6995160" cy="621792"/>
          </a:xfrm>
          <a:prstGeom prst="rect">
            <a:avLst/>
          </a:prstGeom>
          <a:noFill/>
          <a:ln/>
        </p:spPr>
        <p:txBody>
          <a:bodyPr wrap="square" lIns="0" tIns="0" rIns="0" bIns="0" rtlCol="0" anchor="ctr">
            <a:normAutofit/>
          </a:bodyPr>
          <a:lstStyle/>
          <a:p>
            <a:pPr indent="0" marL="0">
              <a:buNone/>
            </a:pPr>
            <a:r>
              <a:rPr lang="en-US" sz="1220" dirty="0">
                <a:solidFill>
                  <a:srgbClr val="1F2937"/>
                </a:solidFill>
              </a:rPr>
              <a:t>2020 年，全球公共卫生危机使体育赛事、训练和线下社交被打断。广告选择以大量真实体育片段回应“停摆感”：运动员的身体仍在动作中，观众的情绪也被重新连接。</a:t>
            </a:r>
            <a:endParaRPr lang="en-US" sz="1220" dirty="0"/>
          </a:p>
        </p:txBody>
      </p:sp>
      <p:sp>
        <p:nvSpPr>
          <p:cNvPr id="16" name="Text 14"/>
          <p:cNvSpPr/>
          <p:nvPr/>
        </p:nvSpPr>
        <p:spPr>
          <a:xfrm>
            <a:off x="3611880" y="2926080"/>
            <a:ext cx="6995160" cy="621792"/>
          </a:xfrm>
          <a:prstGeom prst="rect">
            <a:avLst/>
          </a:prstGeom>
          <a:noFill/>
          <a:ln/>
        </p:spPr>
        <p:txBody>
          <a:bodyPr wrap="square" lIns="0" tIns="0" rIns="0" bIns="0" rtlCol="0" anchor="ctr">
            <a:normAutofit/>
          </a:bodyPr>
          <a:lstStyle/>
          <a:p>
            <a:pPr indent="0" marL="0">
              <a:buNone/>
            </a:pPr>
            <a:r>
              <a:rPr lang="en-US" sz="1220" dirty="0">
                <a:solidFill>
                  <a:srgbClr val="1F2937"/>
                </a:solidFill>
              </a:rPr>
              <a:t>Nike 延续“体育改变世界”的品牌叙事，不直接强调商品，而是把品牌放在“坚持、团结、突破”的价值语境中，提升公共议题中的品牌认同。</a:t>
            </a:r>
            <a:endParaRPr lang="en-US" sz="1220" dirty="0"/>
          </a:p>
        </p:txBody>
      </p:sp>
      <p:sp>
        <p:nvSpPr>
          <p:cNvPr id="17" name="Text 15"/>
          <p:cNvSpPr/>
          <p:nvPr/>
        </p:nvSpPr>
        <p:spPr>
          <a:xfrm>
            <a:off x="3611880" y="4325112"/>
            <a:ext cx="6995160" cy="621792"/>
          </a:xfrm>
          <a:prstGeom prst="rect">
            <a:avLst/>
          </a:prstGeom>
          <a:noFill/>
          <a:ln/>
        </p:spPr>
        <p:txBody>
          <a:bodyPr wrap="square" lIns="0" tIns="0" rIns="0" bIns="0" rtlCol="0" anchor="ctr">
            <a:normAutofit/>
          </a:bodyPr>
          <a:lstStyle/>
          <a:p>
            <a:pPr indent="0" marL="0">
              <a:buNone/>
            </a:pPr>
            <a:r>
              <a:rPr lang="en-US" sz="1220" dirty="0">
                <a:solidFill>
                  <a:srgbClr val="1F2937"/>
                </a:solidFill>
              </a:rPr>
              <a:t>旁白从个人经验扩展到群体经验：没有谁是孤立的。分屏画面让两个毫不相干的动作在视觉上接续，形成“我们其实在一起”的情感证明。</a:t>
            </a:r>
            <a:endParaRPr lang="en-US" sz="1220" dirty="0"/>
          </a:p>
        </p:txBody>
      </p:sp>
      <p:sp>
        <p:nvSpPr>
          <p:cNvPr id="18" name="Shape 16"/>
          <p:cNvSpPr/>
          <p:nvPr/>
        </p:nvSpPr>
        <p:spPr>
          <a:xfrm rot="5400000">
            <a:off x="3017520" y="2240280"/>
            <a:ext cx="320040" cy="320040"/>
          </a:xfrm>
          <a:prstGeom prst="chevron">
            <a:avLst/>
          </a:prstGeom>
          <a:solidFill>
            <a:srgbClr val="D8D1C5"/>
          </a:solidFill>
          <a:ln w="12700">
            <a:solidFill>
              <a:srgbClr val="D8D1C5"/>
            </a:solidFill>
            <a:prstDash val="solid"/>
          </a:ln>
        </p:spPr>
      </p:sp>
      <p:sp>
        <p:nvSpPr>
          <p:cNvPr id="19" name="Shape 17"/>
          <p:cNvSpPr/>
          <p:nvPr/>
        </p:nvSpPr>
        <p:spPr>
          <a:xfrm rot="5400000">
            <a:off x="3017520" y="3639312"/>
            <a:ext cx="320040" cy="320040"/>
          </a:xfrm>
          <a:prstGeom prst="chevron">
            <a:avLst/>
          </a:prstGeom>
          <a:solidFill>
            <a:srgbClr val="D8D1C5"/>
          </a:solidFill>
          <a:ln w="12700">
            <a:solidFill>
              <a:srgbClr val="D8D1C5"/>
            </a:solidFill>
            <a:prstDash val="solid"/>
          </a:ln>
        </p:spPr>
      </p:sp>
      <p:sp>
        <p:nvSpPr>
          <p:cNvPr id="20" name="Text 18"/>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4DD0E1"/>
                </a:solidFill>
                <a:latin typeface="PingFang SC" pitchFamily="34" charset="0"/>
                <a:ea typeface="PingFang SC" pitchFamily="34" charset="-122"/>
                <a:cs typeface="PingFang SC" pitchFamily="34" charset="-120"/>
              </a:rPr>
              <a:t>PART 03</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PingFang SC" pitchFamily="34" charset="0"/>
                <a:ea typeface="PingFang SC" pitchFamily="34" charset="-122"/>
                <a:cs typeface="PingFang SC" pitchFamily="34" charset="-120"/>
              </a:rPr>
              <a:t>技术手法：从素材库到分屏叙事</a:t>
            </a:r>
            <a:endParaRPr lang="en-US" sz="2500" dirty="0"/>
          </a:p>
        </p:txBody>
      </p:sp>
      <p:sp>
        <p:nvSpPr>
          <p:cNvPr id="5" name="Shape 3"/>
          <p:cNvSpPr/>
          <p:nvPr/>
        </p:nvSpPr>
        <p:spPr>
          <a:xfrm>
            <a:off x="594360" y="1243584"/>
            <a:ext cx="10972800" cy="0"/>
          </a:xfrm>
          <a:prstGeom prst="line">
            <a:avLst/>
          </a:prstGeom>
          <a:noFill/>
          <a:ln w="12700">
            <a:solidFill>
              <a:srgbClr val="FFFFFF">
                <a:alpha val="30000"/>
              </a:srgbClr>
            </a:solidFill>
            <a:prstDash val="solid"/>
          </a:ln>
        </p:spPr>
      </p:sp>
      <p:sp>
        <p:nvSpPr>
          <p:cNvPr id="6" name="Shape 4"/>
          <p:cNvSpPr/>
          <p:nvPr/>
        </p:nvSpPr>
        <p:spPr>
          <a:xfrm>
            <a:off x="713232" y="1920240"/>
            <a:ext cx="1755648" cy="2148840"/>
          </a:xfrm>
          <a:prstGeom prst="roundRect">
            <a:avLst>
              <a:gd name="adj" fmla="val 4688"/>
            </a:avLst>
          </a:prstGeom>
          <a:solidFill>
            <a:srgbClr val="2B2B2B"/>
          </a:solidFill>
          <a:ln w="15240">
            <a:solidFill>
              <a:srgbClr val="E93D35"/>
            </a:solidFill>
            <a:prstDash val="solid"/>
          </a:ln>
        </p:spPr>
      </p:sp>
      <p:sp>
        <p:nvSpPr>
          <p:cNvPr id="7" name="Text 5"/>
          <p:cNvSpPr/>
          <p:nvPr/>
        </p:nvSpPr>
        <p:spPr>
          <a:xfrm>
            <a:off x="877824" y="2139696"/>
            <a:ext cx="411480" cy="182880"/>
          </a:xfrm>
          <a:prstGeom prst="rect">
            <a:avLst/>
          </a:prstGeom>
          <a:noFill/>
          <a:ln/>
        </p:spPr>
        <p:txBody>
          <a:bodyPr wrap="square" lIns="0" tIns="0" rIns="0" bIns="0" rtlCol="0" anchor="ctr"/>
          <a:lstStyle/>
          <a:p>
            <a:pPr indent="0" marL="0">
              <a:buNone/>
            </a:pPr>
            <a:r>
              <a:rPr lang="en-US" sz="900" b="1" dirty="0">
                <a:solidFill>
                  <a:srgbClr val="E93D35"/>
                </a:solidFill>
              </a:rPr>
              <a:t>01</a:t>
            </a:r>
            <a:endParaRPr lang="en-US" sz="900" dirty="0"/>
          </a:p>
        </p:txBody>
      </p:sp>
      <p:sp>
        <p:nvSpPr>
          <p:cNvPr id="8" name="Text 6"/>
          <p:cNvSpPr/>
          <p:nvPr/>
        </p:nvSpPr>
        <p:spPr>
          <a:xfrm>
            <a:off x="877824" y="2542032"/>
            <a:ext cx="1371600" cy="256032"/>
          </a:xfrm>
          <a:prstGeom prst="rect">
            <a:avLst/>
          </a:prstGeom>
          <a:noFill/>
          <a:ln/>
        </p:spPr>
        <p:txBody>
          <a:bodyPr wrap="square" lIns="0" tIns="0" rIns="0" bIns="0" rtlCol="0" anchor="ctr"/>
          <a:lstStyle/>
          <a:p>
            <a:pPr indent="0" marL="0">
              <a:buNone/>
            </a:pPr>
            <a:r>
              <a:rPr lang="en-US" sz="1300" b="1" dirty="0">
                <a:solidFill>
                  <a:srgbClr val="FFFFFF"/>
                </a:solidFill>
              </a:rPr>
              <a:t>素材检索</a:t>
            </a:r>
            <a:endParaRPr lang="en-US" sz="1300" dirty="0"/>
          </a:p>
        </p:txBody>
      </p:sp>
      <p:sp>
        <p:nvSpPr>
          <p:cNvPr id="9" name="Text 7"/>
          <p:cNvSpPr/>
          <p:nvPr/>
        </p:nvSpPr>
        <p:spPr>
          <a:xfrm>
            <a:off x="877824" y="2999232"/>
            <a:ext cx="1353312" cy="566928"/>
          </a:xfrm>
          <a:prstGeom prst="rect">
            <a:avLst/>
          </a:prstGeom>
          <a:noFill/>
          <a:ln/>
        </p:spPr>
        <p:txBody>
          <a:bodyPr wrap="square" lIns="0" tIns="0" rIns="0" bIns="0" rtlCol="0" anchor="ctr">
            <a:normAutofit/>
          </a:bodyPr>
          <a:lstStyle/>
          <a:p>
            <a:pPr indent="0" marL="0">
              <a:buNone/>
            </a:pPr>
            <a:r>
              <a:rPr lang="en-US" sz="920" dirty="0">
                <a:solidFill>
                  <a:srgbClr val="D1D5DB"/>
                </a:solidFill>
              </a:rPr>
              <a:t>寻找不同运动、人物与历史片段</a:t>
            </a:r>
            <a:endParaRPr lang="en-US" sz="920" dirty="0"/>
          </a:p>
        </p:txBody>
      </p:sp>
      <p:sp>
        <p:nvSpPr>
          <p:cNvPr id="10" name="Shape 8"/>
          <p:cNvSpPr/>
          <p:nvPr/>
        </p:nvSpPr>
        <p:spPr>
          <a:xfrm>
            <a:off x="2569464" y="2907792"/>
            <a:ext cx="256032" cy="256032"/>
          </a:xfrm>
          <a:prstGeom prst="chevron">
            <a:avLst/>
          </a:prstGeom>
          <a:solidFill>
            <a:srgbClr val="56616E"/>
          </a:solidFill>
          <a:ln w="12700">
            <a:solidFill>
              <a:srgbClr val="56616E"/>
            </a:solidFill>
            <a:prstDash val="solid"/>
          </a:ln>
        </p:spPr>
      </p:sp>
      <p:sp>
        <p:nvSpPr>
          <p:cNvPr id="11" name="Shape 9"/>
          <p:cNvSpPr/>
          <p:nvPr/>
        </p:nvSpPr>
        <p:spPr>
          <a:xfrm>
            <a:off x="2926080" y="1920240"/>
            <a:ext cx="1755648" cy="2148840"/>
          </a:xfrm>
          <a:prstGeom prst="roundRect">
            <a:avLst>
              <a:gd name="adj" fmla="val 4688"/>
            </a:avLst>
          </a:prstGeom>
          <a:solidFill>
            <a:srgbClr val="243B53"/>
          </a:solidFill>
          <a:ln w="15240">
            <a:solidFill>
              <a:srgbClr val="4DD0E1"/>
            </a:solidFill>
            <a:prstDash val="solid"/>
          </a:ln>
        </p:spPr>
      </p:sp>
      <p:sp>
        <p:nvSpPr>
          <p:cNvPr id="12" name="Text 10"/>
          <p:cNvSpPr/>
          <p:nvPr/>
        </p:nvSpPr>
        <p:spPr>
          <a:xfrm>
            <a:off x="3090672" y="2139696"/>
            <a:ext cx="411480" cy="182880"/>
          </a:xfrm>
          <a:prstGeom prst="rect">
            <a:avLst/>
          </a:prstGeom>
          <a:noFill/>
          <a:ln/>
        </p:spPr>
        <p:txBody>
          <a:bodyPr wrap="square" lIns="0" tIns="0" rIns="0" bIns="0" rtlCol="0" anchor="ctr"/>
          <a:lstStyle/>
          <a:p>
            <a:pPr indent="0" marL="0">
              <a:buNone/>
            </a:pPr>
            <a:r>
              <a:rPr lang="en-US" sz="900" b="1" dirty="0">
                <a:solidFill>
                  <a:srgbClr val="4DD0E1"/>
                </a:solidFill>
              </a:rPr>
              <a:t>02</a:t>
            </a:r>
            <a:endParaRPr lang="en-US" sz="900" dirty="0"/>
          </a:p>
        </p:txBody>
      </p:sp>
      <p:sp>
        <p:nvSpPr>
          <p:cNvPr id="13" name="Text 11"/>
          <p:cNvSpPr/>
          <p:nvPr/>
        </p:nvSpPr>
        <p:spPr>
          <a:xfrm>
            <a:off x="3090672" y="2542032"/>
            <a:ext cx="1371600" cy="256032"/>
          </a:xfrm>
          <a:prstGeom prst="rect">
            <a:avLst/>
          </a:prstGeom>
          <a:noFill/>
          <a:ln/>
        </p:spPr>
        <p:txBody>
          <a:bodyPr wrap="square" lIns="0" tIns="0" rIns="0" bIns="0" rtlCol="0" anchor="ctr"/>
          <a:lstStyle/>
          <a:p>
            <a:pPr indent="0" marL="0">
              <a:buNone/>
            </a:pPr>
            <a:r>
              <a:rPr lang="en-US" sz="1300" b="1" dirty="0">
                <a:solidFill>
                  <a:srgbClr val="FFFFFF"/>
                </a:solidFill>
              </a:rPr>
              <a:t>动作匹配</a:t>
            </a:r>
            <a:endParaRPr lang="en-US" sz="1300" dirty="0"/>
          </a:p>
        </p:txBody>
      </p:sp>
      <p:sp>
        <p:nvSpPr>
          <p:cNvPr id="14" name="Text 12"/>
          <p:cNvSpPr/>
          <p:nvPr/>
        </p:nvSpPr>
        <p:spPr>
          <a:xfrm>
            <a:off x="3090672" y="2999232"/>
            <a:ext cx="1353312" cy="566928"/>
          </a:xfrm>
          <a:prstGeom prst="rect">
            <a:avLst/>
          </a:prstGeom>
          <a:noFill/>
          <a:ln/>
        </p:spPr>
        <p:txBody>
          <a:bodyPr wrap="square" lIns="0" tIns="0" rIns="0" bIns="0" rtlCol="0" anchor="ctr">
            <a:normAutofit/>
          </a:bodyPr>
          <a:lstStyle/>
          <a:p>
            <a:pPr indent="0" marL="0">
              <a:buNone/>
            </a:pPr>
            <a:r>
              <a:rPr lang="en-US" sz="920" dirty="0">
                <a:solidFill>
                  <a:srgbClr val="D1D5DB"/>
                </a:solidFill>
              </a:rPr>
              <a:t>按身体姿态、方向、速度进行配对</a:t>
            </a:r>
            <a:endParaRPr lang="en-US" sz="920" dirty="0"/>
          </a:p>
        </p:txBody>
      </p:sp>
      <p:sp>
        <p:nvSpPr>
          <p:cNvPr id="15" name="Shape 13"/>
          <p:cNvSpPr/>
          <p:nvPr/>
        </p:nvSpPr>
        <p:spPr>
          <a:xfrm>
            <a:off x="4782312" y="2907792"/>
            <a:ext cx="256032" cy="256032"/>
          </a:xfrm>
          <a:prstGeom prst="chevron">
            <a:avLst/>
          </a:prstGeom>
          <a:solidFill>
            <a:srgbClr val="56616E"/>
          </a:solidFill>
          <a:ln w="12700">
            <a:solidFill>
              <a:srgbClr val="56616E"/>
            </a:solidFill>
            <a:prstDash val="solid"/>
          </a:ln>
        </p:spPr>
      </p:sp>
      <p:sp>
        <p:nvSpPr>
          <p:cNvPr id="16" name="Shape 14"/>
          <p:cNvSpPr/>
          <p:nvPr/>
        </p:nvSpPr>
        <p:spPr>
          <a:xfrm>
            <a:off x="5138928" y="1920240"/>
            <a:ext cx="1755648" cy="2148840"/>
          </a:xfrm>
          <a:prstGeom prst="roundRect">
            <a:avLst>
              <a:gd name="adj" fmla="val 4688"/>
            </a:avLst>
          </a:prstGeom>
          <a:solidFill>
            <a:srgbClr val="2B2B2B"/>
          </a:solidFill>
          <a:ln w="15240">
            <a:solidFill>
              <a:srgbClr val="E93D35"/>
            </a:solidFill>
            <a:prstDash val="solid"/>
          </a:ln>
        </p:spPr>
      </p:sp>
      <p:sp>
        <p:nvSpPr>
          <p:cNvPr id="17" name="Text 15"/>
          <p:cNvSpPr/>
          <p:nvPr/>
        </p:nvSpPr>
        <p:spPr>
          <a:xfrm>
            <a:off x="5303520" y="2139696"/>
            <a:ext cx="411480" cy="182880"/>
          </a:xfrm>
          <a:prstGeom prst="rect">
            <a:avLst/>
          </a:prstGeom>
          <a:noFill/>
          <a:ln/>
        </p:spPr>
        <p:txBody>
          <a:bodyPr wrap="square" lIns="0" tIns="0" rIns="0" bIns="0" rtlCol="0" anchor="ctr"/>
          <a:lstStyle/>
          <a:p>
            <a:pPr indent="0" marL="0">
              <a:buNone/>
            </a:pPr>
            <a:r>
              <a:rPr lang="en-US" sz="900" b="1" dirty="0">
                <a:solidFill>
                  <a:srgbClr val="E93D35"/>
                </a:solidFill>
              </a:rPr>
              <a:t>03</a:t>
            </a:r>
            <a:endParaRPr lang="en-US" sz="900" dirty="0"/>
          </a:p>
        </p:txBody>
      </p:sp>
      <p:sp>
        <p:nvSpPr>
          <p:cNvPr id="18" name="Text 16"/>
          <p:cNvSpPr/>
          <p:nvPr/>
        </p:nvSpPr>
        <p:spPr>
          <a:xfrm>
            <a:off x="5303520" y="2542032"/>
            <a:ext cx="1371600" cy="256032"/>
          </a:xfrm>
          <a:prstGeom prst="rect">
            <a:avLst/>
          </a:prstGeom>
          <a:noFill/>
          <a:ln/>
        </p:spPr>
        <p:txBody>
          <a:bodyPr wrap="square" lIns="0" tIns="0" rIns="0" bIns="0" rtlCol="0" anchor="ctr"/>
          <a:lstStyle/>
          <a:p>
            <a:pPr indent="0" marL="0">
              <a:buNone/>
            </a:pPr>
            <a:r>
              <a:rPr lang="en-US" sz="1300" b="1" dirty="0">
                <a:solidFill>
                  <a:srgbClr val="FFFFFF"/>
                </a:solidFill>
              </a:rPr>
              <a:t>构图拼接</a:t>
            </a:r>
            <a:endParaRPr lang="en-US" sz="1300" dirty="0"/>
          </a:p>
        </p:txBody>
      </p:sp>
      <p:sp>
        <p:nvSpPr>
          <p:cNvPr id="19" name="Text 17"/>
          <p:cNvSpPr/>
          <p:nvPr/>
        </p:nvSpPr>
        <p:spPr>
          <a:xfrm>
            <a:off x="5303520" y="2999232"/>
            <a:ext cx="1353312" cy="566928"/>
          </a:xfrm>
          <a:prstGeom prst="rect">
            <a:avLst/>
          </a:prstGeom>
          <a:noFill/>
          <a:ln/>
        </p:spPr>
        <p:txBody>
          <a:bodyPr wrap="square" lIns="0" tIns="0" rIns="0" bIns="0" rtlCol="0" anchor="ctr">
            <a:normAutofit/>
          </a:bodyPr>
          <a:lstStyle/>
          <a:p>
            <a:pPr indent="0" marL="0">
              <a:buNone/>
            </a:pPr>
            <a:r>
              <a:rPr lang="en-US" sz="920" dirty="0">
                <a:solidFill>
                  <a:srgbClr val="D1D5DB"/>
                </a:solidFill>
              </a:rPr>
              <a:t>将左右两半画面接成“一个动作”</a:t>
            </a:r>
            <a:endParaRPr lang="en-US" sz="920" dirty="0"/>
          </a:p>
        </p:txBody>
      </p:sp>
      <p:sp>
        <p:nvSpPr>
          <p:cNvPr id="20" name="Shape 18"/>
          <p:cNvSpPr/>
          <p:nvPr/>
        </p:nvSpPr>
        <p:spPr>
          <a:xfrm>
            <a:off x="6995160" y="2907792"/>
            <a:ext cx="256032" cy="256032"/>
          </a:xfrm>
          <a:prstGeom prst="chevron">
            <a:avLst/>
          </a:prstGeom>
          <a:solidFill>
            <a:srgbClr val="56616E"/>
          </a:solidFill>
          <a:ln w="12700">
            <a:solidFill>
              <a:srgbClr val="56616E"/>
            </a:solidFill>
            <a:prstDash val="solid"/>
          </a:ln>
        </p:spPr>
      </p:sp>
      <p:sp>
        <p:nvSpPr>
          <p:cNvPr id="21" name="Shape 19"/>
          <p:cNvSpPr/>
          <p:nvPr/>
        </p:nvSpPr>
        <p:spPr>
          <a:xfrm>
            <a:off x="7351776" y="1920240"/>
            <a:ext cx="1755648" cy="2148840"/>
          </a:xfrm>
          <a:prstGeom prst="roundRect">
            <a:avLst>
              <a:gd name="adj" fmla="val 4688"/>
            </a:avLst>
          </a:prstGeom>
          <a:solidFill>
            <a:srgbClr val="243B53"/>
          </a:solidFill>
          <a:ln w="15240">
            <a:solidFill>
              <a:srgbClr val="4DD0E1"/>
            </a:solidFill>
            <a:prstDash val="solid"/>
          </a:ln>
        </p:spPr>
      </p:sp>
      <p:sp>
        <p:nvSpPr>
          <p:cNvPr id="22" name="Text 20"/>
          <p:cNvSpPr/>
          <p:nvPr/>
        </p:nvSpPr>
        <p:spPr>
          <a:xfrm>
            <a:off x="7516368" y="2139696"/>
            <a:ext cx="411480" cy="182880"/>
          </a:xfrm>
          <a:prstGeom prst="rect">
            <a:avLst/>
          </a:prstGeom>
          <a:noFill/>
          <a:ln/>
        </p:spPr>
        <p:txBody>
          <a:bodyPr wrap="square" lIns="0" tIns="0" rIns="0" bIns="0" rtlCol="0" anchor="ctr"/>
          <a:lstStyle/>
          <a:p>
            <a:pPr indent="0" marL="0">
              <a:buNone/>
            </a:pPr>
            <a:r>
              <a:rPr lang="en-US" sz="900" b="1" dirty="0">
                <a:solidFill>
                  <a:srgbClr val="4DD0E1"/>
                </a:solidFill>
              </a:rPr>
              <a:t>04</a:t>
            </a:r>
            <a:endParaRPr lang="en-US" sz="900" dirty="0"/>
          </a:p>
        </p:txBody>
      </p:sp>
      <p:sp>
        <p:nvSpPr>
          <p:cNvPr id="23" name="Text 21"/>
          <p:cNvSpPr/>
          <p:nvPr/>
        </p:nvSpPr>
        <p:spPr>
          <a:xfrm>
            <a:off x="7516368" y="2542032"/>
            <a:ext cx="1371600" cy="256032"/>
          </a:xfrm>
          <a:prstGeom prst="rect">
            <a:avLst/>
          </a:prstGeom>
          <a:noFill/>
          <a:ln/>
        </p:spPr>
        <p:txBody>
          <a:bodyPr wrap="square" lIns="0" tIns="0" rIns="0" bIns="0" rtlCol="0" anchor="ctr"/>
          <a:lstStyle/>
          <a:p>
            <a:pPr indent="0" marL="0">
              <a:buNone/>
            </a:pPr>
            <a:r>
              <a:rPr lang="en-US" sz="1300" b="1" dirty="0">
                <a:solidFill>
                  <a:srgbClr val="FFFFFF"/>
                </a:solidFill>
              </a:rPr>
              <a:t>节奏剪辑</a:t>
            </a:r>
            <a:endParaRPr lang="en-US" sz="1300" dirty="0"/>
          </a:p>
        </p:txBody>
      </p:sp>
      <p:sp>
        <p:nvSpPr>
          <p:cNvPr id="24" name="Text 22"/>
          <p:cNvSpPr/>
          <p:nvPr/>
        </p:nvSpPr>
        <p:spPr>
          <a:xfrm>
            <a:off x="7516368" y="2999232"/>
            <a:ext cx="1353312" cy="566928"/>
          </a:xfrm>
          <a:prstGeom prst="rect">
            <a:avLst/>
          </a:prstGeom>
          <a:noFill/>
          <a:ln/>
        </p:spPr>
        <p:txBody>
          <a:bodyPr wrap="square" lIns="0" tIns="0" rIns="0" bIns="0" rtlCol="0" anchor="ctr">
            <a:normAutofit/>
          </a:bodyPr>
          <a:lstStyle/>
          <a:p>
            <a:pPr indent="0" marL="0">
              <a:buNone/>
            </a:pPr>
            <a:r>
              <a:rPr lang="en-US" sz="920" dirty="0">
                <a:solidFill>
                  <a:srgbClr val="D1D5DB"/>
                </a:solidFill>
              </a:rPr>
              <a:t>配合旁白、音乐与情绪递进</a:t>
            </a:r>
            <a:endParaRPr lang="en-US" sz="920" dirty="0"/>
          </a:p>
        </p:txBody>
      </p:sp>
      <p:sp>
        <p:nvSpPr>
          <p:cNvPr id="25" name="Shape 23"/>
          <p:cNvSpPr/>
          <p:nvPr/>
        </p:nvSpPr>
        <p:spPr>
          <a:xfrm>
            <a:off x="9208008" y="2907792"/>
            <a:ext cx="256032" cy="256032"/>
          </a:xfrm>
          <a:prstGeom prst="chevron">
            <a:avLst/>
          </a:prstGeom>
          <a:solidFill>
            <a:srgbClr val="56616E"/>
          </a:solidFill>
          <a:ln w="12700">
            <a:solidFill>
              <a:srgbClr val="56616E"/>
            </a:solidFill>
            <a:prstDash val="solid"/>
          </a:ln>
        </p:spPr>
      </p:sp>
      <p:sp>
        <p:nvSpPr>
          <p:cNvPr id="26" name="Shape 24"/>
          <p:cNvSpPr/>
          <p:nvPr/>
        </p:nvSpPr>
        <p:spPr>
          <a:xfrm>
            <a:off x="9564624" y="1920240"/>
            <a:ext cx="1755648" cy="2148840"/>
          </a:xfrm>
          <a:prstGeom prst="roundRect">
            <a:avLst>
              <a:gd name="adj" fmla="val 4688"/>
            </a:avLst>
          </a:prstGeom>
          <a:solidFill>
            <a:srgbClr val="2B2B2B"/>
          </a:solidFill>
          <a:ln w="15240">
            <a:solidFill>
              <a:srgbClr val="E93D35"/>
            </a:solidFill>
            <a:prstDash val="solid"/>
          </a:ln>
        </p:spPr>
      </p:sp>
      <p:sp>
        <p:nvSpPr>
          <p:cNvPr id="27" name="Text 25"/>
          <p:cNvSpPr/>
          <p:nvPr/>
        </p:nvSpPr>
        <p:spPr>
          <a:xfrm>
            <a:off x="9729216" y="2139696"/>
            <a:ext cx="411480" cy="182880"/>
          </a:xfrm>
          <a:prstGeom prst="rect">
            <a:avLst/>
          </a:prstGeom>
          <a:noFill/>
          <a:ln/>
        </p:spPr>
        <p:txBody>
          <a:bodyPr wrap="square" lIns="0" tIns="0" rIns="0" bIns="0" rtlCol="0" anchor="ctr"/>
          <a:lstStyle/>
          <a:p>
            <a:pPr indent="0" marL="0">
              <a:buNone/>
            </a:pPr>
            <a:r>
              <a:rPr lang="en-US" sz="900" b="1" dirty="0">
                <a:solidFill>
                  <a:srgbClr val="E93D35"/>
                </a:solidFill>
              </a:rPr>
              <a:t>05</a:t>
            </a:r>
            <a:endParaRPr lang="en-US" sz="900" dirty="0"/>
          </a:p>
        </p:txBody>
      </p:sp>
      <p:sp>
        <p:nvSpPr>
          <p:cNvPr id="28" name="Text 26"/>
          <p:cNvSpPr/>
          <p:nvPr/>
        </p:nvSpPr>
        <p:spPr>
          <a:xfrm>
            <a:off x="9729216" y="2542032"/>
            <a:ext cx="1371600" cy="256032"/>
          </a:xfrm>
          <a:prstGeom prst="rect">
            <a:avLst/>
          </a:prstGeom>
          <a:noFill/>
          <a:ln/>
        </p:spPr>
        <p:txBody>
          <a:bodyPr wrap="square" lIns="0" tIns="0" rIns="0" bIns="0" rtlCol="0" anchor="ctr"/>
          <a:lstStyle/>
          <a:p>
            <a:pPr indent="0" marL="0">
              <a:buNone/>
            </a:pPr>
            <a:r>
              <a:rPr lang="en-US" sz="1300" b="1" dirty="0">
                <a:solidFill>
                  <a:srgbClr val="FFFFFF"/>
                </a:solidFill>
              </a:rPr>
              <a:t>意义生成</a:t>
            </a:r>
            <a:endParaRPr lang="en-US" sz="1300" dirty="0"/>
          </a:p>
        </p:txBody>
      </p:sp>
      <p:sp>
        <p:nvSpPr>
          <p:cNvPr id="29" name="Text 27"/>
          <p:cNvSpPr/>
          <p:nvPr/>
        </p:nvSpPr>
        <p:spPr>
          <a:xfrm>
            <a:off x="9729216" y="2999232"/>
            <a:ext cx="1353312" cy="566928"/>
          </a:xfrm>
          <a:prstGeom prst="rect">
            <a:avLst/>
          </a:prstGeom>
          <a:noFill/>
          <a:ln/>
        </p:spPr>
        <p:txBody>
          <a:bodyPr wrap="square" lIns="0" tIns="0" rIns="0" bIns="0" rtlCol="0" anchor="ctr">
            <a:normAutofit/>
          </a:bodyPr>
          <a:lstStyle/>
          <a:p>
            <a:pPr indent="0" marL="0">
              <a:buNone/>
            </a:pPr>
            <a:r>
              <a:rPr lang="en-US" sz="920" dirty="0">
                <a:solidFill>
                  <a:srgbClr val="D1D5DB"/>
                </a:solidFill>
              </a:rPr>
              <a:t>把多元个体变成共同体叙事</a:t>
            </a:r>
            <a:endParaRPr lang="en-US" sz="920" dirty="0"/>
          </a:p>
        </p:txBody>
      </p:sp>
      <p:sp>
        <p:nvSpPr>
          <p:cNvPr id="30" name="Shape 28"/>
          <p:cNvSpPr/>
          <p:nvPr/>
        </p:nvSpPr>
        <p:spPr>
          <a:xfrm>
            <a:off x="2971800" y="4754880"/>
            <a:ext cx="3108960" cy="1024128"/>
          </a:xfrm>
          <a:prstGeom prst="rect">
            <a:avLst/>
          </a:prstGeom>
          <a:solidFill>
            <a:srgbClr val="E93D35"/>
          </a:solidFill>
          <a:ln w="12700">
            <a:solidFill>
              <a:srgbClr val="E93D35"/>
            </a:solidFill>
            <a:prstDash val="solid"/>
          </a:ln>
        </p:spPr>
      </p:sp>
      <p:sp>
        <p:nvSpPr>
          <p:cNvPr id="31" name="Shape 29"/>
          <p:cNvSpPr/>
          <p:nvPr/>
        </p:nvSpPr>
        <p:spPr>
          <a:xfrm>
            <a:off x="6080760" y="4754880"/>
            <a:ext cx="3108960" cy="1024128"/>
          </a:xfrm>
          <a:prstGeom prst="rect">
            <a:avLst/>
          </a:prstGeom>
          <a:solidFill>
            <a:srgbClr val="1C7ED6"/>
          </a:solidFill>
          <a:ln w="12700">
            <a:solidFill>
              <a:srgbClr val="1C7ED6"/>
            </a:solidFill>
            <a:prstDash val="solid"/>
          </a:ln>
        </p:spPr>
      </p:sp>
      <p:sp>
        <p:nvSpPr>
          <p:cNvPr id="32" name="Shape 30"/>
          <p:cNvSpPr/>
          <p:nvPr/>
        </p:nvSpPr>
        <p:spPr>
          <a:xfrm>
            <a:off x="6080760" y="4754880"/>
            <a:ext cx="0" cy="1024128"/>
          </a:xfrm>
          <a:prstGeom prst="line">
            <a:avLst/>
          </a:prstGeom>
          <a:noFill/>
          <a:ln w="27940">
            <a:solidFill>
              <a:srgbClr val="FFFFFF">
                <a:alpha val="92000"/>
              </a:srgbClr>
            </a:solidFill>
            <a:prstDash val="solid"/>
          </a:ln>
        </p:spPr>
      </p:sp>
      <p:sp>
        <p:nvSpPr>
          <p:cNvPr id="33" name="Shape 31"/>
          <p:cNvSpPr/>
          <p:nvPr/>
        </p:nvSpPr>
        <p:spPr>
          <a:xfrm>
            <a:off x="3904488" y="5041636"/>
            <a:ext cx="1989734" cy="512064"/>
          </a:xfrm>
          <a:prstGeom prst="arc">
            <a:avLst/>
          </a:prstGeom>
          <a:solidFill>
            <a:srgbClr val="E93D35">
              <a:alpha val="0"/>
            </a:srgbClr>
          </a:solidFill>
          <a:ln w="50800">
            <a:solidFill>
              <a:srgbClr val="FFFFFF">
                <a:alpha val="96000"/>
              </a:srgbClr>
            </a:solidFill>
            <a:prstDash val="solid"/>
          </a:ln>
        </p:spPr>
      </p:sp>
      <p:sp>
        <p:nvSpPr>
          <p:cNvPr id="34" name="Shape 32"/>
          <p:cNvSpPr/>
          <p:nvPr/>
        </p:nvSpPr>
        <p:spPr>
          <a:xfrm>
            <a:off x="6267298" y="5000671"/>
            <a:ext cx="1865376" cy="532547"/>
          </a:xfrm>
          <a:prstGeom prst="arc">
            <a:avLst/>
          </a:prstGeom>
          <a:solidFill>
            <a:srgbClr val="1C7ED6">
              <a:alpha val="0"/>
            </a:srgbClr>
          </a:solidFill>
          <a:ln w="50800">
            <a:solidFill>
              <a:srgbClr val="FFFFFF">
                <a:alpha val="96000"/>
              </a:srgbClr>
            </a:solidFill>
            <a:prstDash val="solid"/>
          </a:ln>
        </p:spPr>
      </p:sp>
      <p:sp>
        <p:nvSpPr>
          <p:cNvPr id="35" name="Shape 33"/>
          <p:cNvSpPr/>
          <p:nvPr/>
        </p:nvSpPr>
        <p:spPr>
          <a:xfrm>
            <a:off x="5458968" y="4980188"/>
            <a:ext cx="256032" cy="256032"/>
          </a:xfrm>
          <a:prstGeom prst="ellipse">
            <a:avLst/>
          </a:prstGeom>
          <a:solidFill>
            <a:srgbClr val="FFFFFF"/>
          </a:solidFill>
          <a:ln w="12700">
            <a:solidFill>
              <a:srgbClr val="FFFFFF"/>
            </a:solidFill>
            <a:prstDash val="solid"/>
          </a:ln>
        </p:spPr>
      </p:sp>
      <p:sp>
        <p:nvSpPr>
          <p:cNvPr id="36" name="Shape 34"/>
          <p:cNvSpPr/>
          <p:nvPr/>
        </p:nvSpPr>
        <p:spPr>
          <a:xfrm>
            <a:off x="6267298" y="4949464"/>
            <a:ext cx="256032" cy="256032"/>
          </a:xfrm>
          <a:prstGeom prst="ellipse">
            <a:avLst/>
          </a:prstGeom>
          <a:solidFill>
            <a:srgbClr val="FFFFFF"/>
          </a:solidFill>
          <a:ln w="12700">
            <a:solidFill>
              <a:srgbClr val="FFFFFF"/>
            </a:solidFill>
            <a:prstDash val="solid"/>
          </a:ln>
        </p:spPr>
      </p:sp>
      <p:sp>
        <p:nvSpPr>
          <p:cNvPr id="37" name="Shape 35"/>
          <p:cNvSpPr/>
          <p:nvPr/>
        </p:nvSpPr>
        <p:spPr>
          <a:xfrm>
            <a:off x="3200400" y="5449824"/>
            <a:ext cx="320040" cy="0"/>
          </a:xfrm>
          <a:prstGeom prst="line">
            <a:avLst/>
          </a:prstGeom>
          <a:noFill/>
          <a:ln w="12700">
            <a:solidFill>
              <a:srgbClr val="FFFFFF">
                <a:alpha val="60000"/>
              </a:srgbClr>
            </a:solidFill>
            <a:prstDash val="solid"/>
          </a:ln>
        </p:spPr>
      </p:sp>
      <p:sp>
        <p:nvSpPr>
          <p:cNvPr id="38" name="Shape 36"/>
          <p:cNvSpPr/>
          <p:nvPr/>
        </p:nvSpPr>
        <p:spPr>
          <a:xfrm>
            <a:off x="4023360" y="5376672"/>
            <a:ext cx="320040" cy="0"/>
          </a:xfrm>
          <a:prstGeom prst="line">
            <a:avLst/>
          </a:prstGeom>
          <a:noFill/>
          <a:ln w="12700">
            <a:solidFill>
              <a:srgbClr val="FFFFFF">
                <a:alpha val="60000"/>
              </a:srgbClr>
            </a:solidFill>
            <a:prstDash val="solid"/>
          </a:ln>
        </p:spPr>
      </p:sp>
      <p:sp>
        <p:nvSpPr>
          <p:cNvPr id="39" name="Shape 37"/>
          <p:cNvSpPr/>
          <p:nvPr/>
        </p:nvSpPr>
        <p:spPr>
          <a:xfrm>
            <a:off x="4846320" y="5449824"/>
            <a:ext cx="320040" cy="0"/>
          </a:xfrm>
          <a:prstGeom prst="line">
            <a:avLst/>
          </a:prstGeom>
          <a:noFill/>
          <a:ln w="12700">
            <a:solidFill>
              <a:srgbClr val="FFFFFF">
                <a:alpha val="60000"/>
              </a:srgbClr>
            </a:solidFill>
            <a:prstDash val="solid"/>
          </a:ln>
        </p:spPr>
      </p:sp>
      <p:sp>
        <p:nvSpPr>
          <p:cNvPr id="40" name="Shape 38"/>
          <p:cNvSpPr/>
          <p:nvPr/>
        </p:nvSpPr>
        <p:spPr>
          <a:xfrm>
            <a:off x="5669280" y="5376672"/>
            <a:ext cx="320040" cy="0"/>
          </a:xfrm>
          <a:prstGeom prst="line">
            <a:avLst/>
          </a:prstGeom>
          <a:noFill/>
          <a:ln w="12700">
            <a:solidFill>
              <a:srgbClr val="FFFFFF">
                <a:alpha val="60000"/>
              </a:srgbClr>
            </a:solidFill>
            <a:prstDash val="solid"/>
          </a:ln>
        </p:spPr>
      </p:sp>
      <p:sp>
        <p:nvSpPr>
          <p:cNvPr id="41" name="Shape 39"/>
          <p:cNvSpPr/>
          <p:nvPr/>
        </p:nvSpPr>
        <p:spPr>
          <a:xfrm>
            <a:off x="6492240" y="5449824"/>
            <a:ext cx="320040" cy="0"/>
          </a:xfrm>
          <a:prstGeom prst="line">
            <a:avLst/>
          </a:prstGeom>
          <a:noFill/>
          <a:ln w="12700">
            <a:solidFill>
              <a:srgbClr val="FFFFFF">
                <a:alpha val="60000"/>
              </a:srgbClr>
            </a:solidFill>
            <a:prstDash val="solid"/>
          </a:ln>
        </p:spPr>
      </p:sp>
      <p:sp>
        <p:nvSpPr>
          <p:cNvPr id="42" name="Shape 40"/>
          <p:cNvSpPr/>
          <p:nvPr/>
        </p:nvSpPr>
        <p:spPr>
          <a:xfrm>
            <a:off x="7315200" y="5376672"/>
            <a:ext cx="320040" cy="0"/>
          </a:xfrm>
          <a:prstGeom prst="line">
            <a:avLst/>
          </a:prstGeom>
          <a:noFill/>
          <a:ln w="12700">
            <a:solidFill>
              <a:srgbClr val="FFFFFF">
                <a:alpha val="60000"/>
              </a:srgbClr>
            </a:solidFill>
            <a:prstDash val="solid"/>
          </a:ln>
        </p:spPr>
      </p:sp>
      <p:sp>
        <p:nvSpPr>
          <p:cNvPr id="43" name="Shape 41"/>
          <p:cNvSpPr/>
          <p:nvPr/>
        </p:nvSpPr>
        <p:spPr>
          <a:xfrm>
            <a:off x="8138160" y="5449824"/>
            <a:ext cx="320040" cy="0"/>
          </a:xfrm>
          <a:prstGeom prst="line">
            <a:avLst/>
          </a:prstGeom>
          <a:noFill/>
          <a:ln w="12700">
            <a:solidFill>
              <a:srgbClr val="FFFFFF">
                <a:alpha val="60000"/>
              </a:srgbClr>
            </a:solidFill>
            <a:prstDash val="solid"/>
          </a:ln>
        </p:spPr>
      </p:sp>
      <p:sp>
        <p:nvSpPr>
          <p:cNvPr id="44" name="Shape 42"/>
          <p:cNvSpPr/>
          <p:nvPr/>
        </p:nvSpPr>
        <p:spPr>
          <a:xfrm>
            <a:off x="8961120" y="5376672"/>
            <a:ext cx="320040" cy="0"/>
          </a:xfrm>
          <a:prstGeom prst="line">
            <a:avLst/>
          </a:prstGeom>
          <a:noFill/>
          <a:ln w="12700">
            <a:solidFill>
              <a:srgbClr val="FFFFFF">
                <a:alpha val="60000"/>
              </a:srgbClr>
            </a:solidFill>
            <a:prstDash val="solid"/>
          </a:ln>
        </p:spPr>
      </p:sp>
      <p:sp>
        <p:nvSpPr>
          <p:cNvPr id="45" name="Text 43"/>
          <p:cNvSpPr/>
          <p:nvPr/>
        </p:nvSpPr>
        <p:spPr>
          <a:xfrm>
            <a:off x="2011680" y="6053328"/>
            <a:ext cx="8138160" cy="256032"/>
          </a:xfrm>
          <a:prstGeom prst="rect">
            <a:avLst/>
          </a:prstGeom>
          <a:noFill/>
          <a:ln/>
        </p:spPr>
        <p:txBody>
          <a:bodyPr wrap="square" lIns="0" tIns="0" rIns="0" bIns="0" rtlCol="0" anchor="ctr"/>
          <a:lstStyle/>
          <a:p>
            <a:pPr algn="ctr" indent="0" marL="0">
              <a:buNone/>
            </a:pPr>
            <a:r>
              <a:rPr lang="en-US" sz="1100" b="1" dirty="0">
                <a:solidFill>
                  <a:srgbClr val="FFFFFF"/>
                </a:solidFill>
              </a:rPr>
              <a:t>技术关键不是“把两个画面放在一起”，而是让两个画面在身体方向、运动轨迹、画面重心和情绪节奏上形成连续性。</a:t>
            </a:r>
            <a:endParaRPr lang="en-US" sz="1100" dirty="0"/>
          </a:p>
        </p:txBody>
      </p:sp>
      <p:sp>
        <p:nvSpPr>
          <p:cNvPr id="46" name="Text 44"/>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D1D5DB"/>
                </a:solidFill>
              </a:rPr>
              <a:t>综合影像实践 · 调研报告  |  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F"/>
          </a:solidFill>
          <a:ln w="12700">
            <a:solidFill>
              <a:srgbClr val="F7F4E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TECHNIQUE FOCUS</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分屏匹配：让差异画面产生同一动作</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Shape 4"/>
          <p:cNvSpPr/>
          <p:nvPr/>
        </p:nvSpPr>
        <p:spPr>
          <a:xfrm>
            <a:off x="749808" y="1581912"/>
            <a:ext cx="2514600" cy="3749040"/>
          </a:xfrm>
          <a:prstGeom prst="rect">
            <a:avLst/>
          </a:prstGeom>
          <a:solidFill>
            <a:srgbClr val="D94841"/>
          </a:solidFill>
          <a:ln w="12700">
            <a:solidFill>
              <a:srgbClr val="D94841"/>
            </a:solidFill>
            <a:prstDash val="solid"/>
          </a:ln>
        </p:spPr>
      </p:sp>
      <p:sp>
        <p:nvSpPr>
          <p:cNvPr id="7" name="Shape 5"/>
          <p:cNvSpPr/>
          <p:nvPr/>
        </p:nvSpPr>
        <p:spPr>
          <a:xfrm>
            <a:off x="3264408" y="1581912"/>
            <a:ext cx="2514600" cy="3749040"/>
          </a:xfrm>
          <a:prstGeom prst="rect">
            <a:avLst/>
          </a:prstGeom>
          <a:solidFill>
            <a:srgbClr val="1D6FB8"/>
          </a:solidFill>
          <a:ln w="12700">
            <a:solidFill>
              <a:srgbClr val="1D6FB8"/>
            </a:solidFill>
            <a:prstDash val="solid"/>
          </a:ln>
        </p:spPr>
      </p:sp>
      <p:sp>
        <p:nvSpPr>
          <p:cNvPr id="8" name="Shape 6"/>
          <p:cNvSpPr/>
          <p:nvPr/>
        </p:nvSpPr>
        <p:spPr>
          <a:xfrm>
            <a:off x="3264408" y="1581912"/>
            <a:ext cx="0" cy="3749040"/>
          </a:xfrm>
          <a:prstGeom prst="line">
            <a:avLst/>
          </a:prstGeom>
          <a:noFill/>
          <a:ln w="27940">
            <a:solidFill>
              <a:srgbClr val="FFFFFF">
                <a:alpha val="92000"/>
              </a:srgbClr>
            </a:solidFill>
            <a:prstDash val="solid"/>
          </a:ln>
        </p:spPr>
      </p:sp>
      <p:sp>
        <p:nvSpPr>
          <p:cNvPr id="9" name="Shape 7"/>
          <p:cNvSpPr/>
          <p:nvPr/>
        </p:nvSpPr>
        <p:spPr>
          <a:xfrm>
            <a:off x="1504188" y="2631643"/>
            <a:ext cx="1609344" cy="1874520"/>
          </a:xfrm>
          <a:prstGeom prst="arc">
            <a:avLst/>
          </a:prstGeom>
          <a:solidFill>
            <a:srgbClr val="D94841">
              <a:alpha val="0"/>
            </a:srgbClr>
          </a:solidFill>
          <a:ln w="50800">
            <a:solidFill>
              <a:srgbClr val="FFFFFF">
                <a:alpha val="96000"/>
              </a:srgbClr>
            </a:solidFill>
            <a:prstDash val="solid"/>
          </a:ln>
        </p:spPr>
      </p:sp>
      <p:sp>
        <p:nvSpPr>
          <p:cNvPr id="10" name="Shape 8"/>
          <p:cNvSpPr/>
          <p:nvPr/>
        </p:nvSpPr>
        <p:spPr>
          <a:xfrm>
            <a:off x="3415284" y="2481682"/>
            <a:ext cx="1508760" cy="1949501"/>
          </a:xfrm>
          <a:prstGeom prst="arc">
            <a:avLst/>
          </a:prstGeom>
          <a:solidFill>
            <a:srgbClr val="1D6FB8">
              <a:alpha val="0"/>
            </a:srgbClr>
          </a:solidFill>
          <a:ln w="50800">
            <a:solidFill>
              <a:srgbClr val="FFFFFF">
                <a:alpha val="96000"/>
              </a:srgbClr>
            </a:solidFill>
            <a:prstDash val="solid"/>
          </a:ln>
        </p:spPr>
      </p:sp>
      <p:sp>
        <p:nvSpPr>
          <p:cNvPr id="11" name="Shape 9"/>
          <p:cNvSpPr/>
          <p:nvPr/>
        </p:nvSpPr>
        <p:spPr>
          <a:xfrm>
            <a:off x="2761488" y="2406701"/>
            <a:ext cx="256032" cy="256032"/>
          </a:xfrm>
          <a:prstGeom prst="ellipse">
            <a:avLst/>
          </a:prstGeom>
          <a:solidFill>
            <a:srgbClr val="FFFFFF"/>
          </a:solidFill>
          <a:ln w="12700">
            <a:solidFill>
              <a:srgbClr val="FFFFFF"/>
            </a:solidFill>
            <a:prstDash val="solid"/>
          </a:ln>
        </p:spPr>
      </p:sp>
      <p:sp>
        <p:nvSpPr>
          <p:cNvPr id="12" name="Shape 10"/>
          <p:cNvSpPr/>
          <p:nvPr/>
        </p:nvSpPr>
        <p:spPr>
          <a:xfrm>
            <a:off x="3415284" y="2294230"/>
            <a:ext cx="256032" cy="256032"/>
          </a:xfrm>
          <a:prstGeom prst="ellipse">
            <a:avLst/>
          </a:prstGeom>
          <a:solidFill>
            <a:srgbClr val="FFFFFF"/>
          </a:solidFill>
          <a:ln w="12700">
            <a:solidFill>
              <a:srgbClr val="FFFFFF"/>
            </a:solidFill>
            <a:prstDash val="solid"/>
          </a:ln>
        </p:spPr>
      </p:sp>
      <p:sp>
        <p:nvSpPr>
          <p:cNvPr id="13" name="Shape 11"/>
          <p:cNvSpPr/>
          <p:nvPr/>
        </p:nvSpPr>
        <p:spPr>
          <a:xfrm>
            <a:off x="978408" y="5001768"/>
            <a:ext cx="320040" cy="0"/>
          </a:xfrm>
          <a:prstGeom prst="line">
            <a:avLst/>
          </a:prstGeom>
          <a:noFill/>
          <a:ln w="12700">
            <a:solidFill>
              <a:srgbClr val="FFFFFF">
                <a:alpha val="60000"/>
              </a:srgbClr>
            </a:solidFill>
            <a:prstDash val="solid"/>
          </a:ln>
        </p:spPr>
      </p:sp>
      <p:sp>
        <p:nvSpPr>
          <p:cNvPr id="14" name="Shape 12"/>
          <p:cNvSpPr/>
          <p:nvPr/>
        </p:nvSpPr>
        <p:spPr>
          <a:xfrm>
            <a:off x="1631551" y="4928616"/>
            <a:ext cx="320040" cy="0"/>
          </a:xfrm>
          <a:prstGeom prst="line">
            <a:avLst/>
          </a:prstGeom>
          <a:noFill/>
          <a:ln w="12700">
            <a:solidFill>
              <a:srgbClr val="FFFFFF">
                <a:alpha val="60000"/>
              </a:srgbClr>
            </a:solidFill>
            <a:prstDash val="solid"/>
          </a:ln>
        </p:spPr>
      </p:sp>
      <p:sp>
        <p:nvSpPr>
          <p:cNvPr id="15" name="Shape 13"/>
          <p:cNvSpPr/>
          <p:nvPr/>
        </p:nvSpPr>
        <p:spPr>
          <a:xfrm>
            <a:off x="2284694" y="5001768"/>
            <a:ext cx="320040" cy="0"/>
          </a:xfrm>
          <a:prstGeom prst="line">
            <a:avLst/>
          </a:prstGeom>
          <a:noFill/>
          <a:ln w="12700">
            <a:solidFill>
              <a:srgbClr val="FFFFFF">
                <a:alpha val="60000"/>
              </a:srgbClr>
            </a:solidFill>
            <a:prstDash val="solid"/>
          </a:ln>
        </p:spPr>
      </p:sp>
      <p:sp>
        <p:nvSpPr>
          <p:cNvPr id="16" name="Shape 14"/>
          <p:cNvSpPr/>
          <p:nvPr/>
        </p:nvSpPr>
        <p:spPr>
          <a:xfrm>
            <a:off x="2937837" y="4928616"/>
            <a:ext cx="320040" cy="0"/>
          </a:xfrm>
          <a:prstGeom prst="line">
            <a:avLst/>
          </a:prstGeom>
          <a:noFill/>
          <a:ln w="12700">
            <a:solidFill>
              <a:srgbClr val="FFFFFF">
                <a:alpha val="60000"/>
              </a:srgbClr>
            </a:solidFill>
            <a:prstDash val="solid"/>
          </a:ln>
        </p:spPr>
      </p:sp>
      <p:sp>
        <p:nvSpPr>
          <p:cNvPr id="17" name="Shape 15"/>
          <p:cNvSpPr/>
          <p:nvPr/>
        </p:nvSpPr>
        <p:spPr>
          <a:xfrm>
            <a:off x="3590979" y="5001768"/>
            <a:ext cx="320040" cy="0"/>
          </a:xfrm>
          <a:prstGeom prst="line">
            <a:avLst/>
          </a:prstGeom>
          <a:noFill/>
          <a:ln w="12700">
            <a:solidFill>
              <a:srgbClr val="FFFFFF">
                <a:alpha val="60000"/>
              </a:srgbClr>
            </a:solidFill>
            <a:prstDash val="solid"/>
          </a:ln>
        </p:spPr>
      </p:sp>
      <p:sp>
        <p:nvSpPr>
          <p:cNvPr id="18" name="Shape 16"/>
          <p:cNvSpPr/>
          <p:nvPr/>
        </p:nvSpPr>
        <p:spPr>
          <a:xfrm>
            <a:off x="4244122" y="4928616"/>
            <a:ext cx="320040" cy="0"/>
          </a:xfrm>
          <a:prstGeom prst="line">
            <a:avLst/>
          </a:prstGeom>
          <a:noFill/>
          <a:ln w="12700">
            <a:solidFill>
              <a:srgbClr val="FFFFFF">
                <a:alpha val="60000"/>
              </a:srgbClr>
            </a:solidFill>
            <a:prstDash val="solid"/>
          </a:ln>
        </p:spPr>
      </p:sp>
      <p:sp>
        <p:nvSpPr>
          <p:cNvPr id="19" name="Shape 17"/>
          <p:cNvSpPr/>
          <p:nvPr/>
        </p:nvSpPr>
        <p:spPr>
          <a:xfrm>
            <a:off x="4897265" y="5001768"/>
            <a:ext cx="320040" cy="0"/>
          </a:xfrm>
          <a:prstGeom prst="line">
            <a:avLst/>
          </a:prstGeom>
          <a:noFill/>
          <a:ln w="12700">
            <a:solidFill>
              <a:srgbClr val="FFFFFF">
                <a:alpha val="60000"/>
              </a:srgbClr>
            </a:solidFill>
            <a:prstDash val="solid"/>
          </a:ln>
        </p:spPr>
      </p:sp>
      <p:sp>
        <p:nvSpPr>
          <p:cNvPr id="20" name="Shape 18"/>
          <p:cNvSpPr/>
          <p:nvPr/>
        </p:nvSpPr>
        <p:spPr>
          <a:xfrm>
            <a:off x="5550408" y="4928616"/>
            <a:ext cx="320040" cy="0"/>
          </a:xfrm>
          <a:prstGeom prst="line">
            <a:avLst/>
          </a:prstGeom>
          <a:noFill/>
          <a:ln w="12700">
            <a:solidFill>
              <a:srgbClr val="FFFFFF">
                <a:alpha val="60000"/>
              </a:srgbClr>
            </a:solidFill>
            <a:prstDash val="solid"/>
          </a:ln>
        </p:spPr>
      </p:sp>
      <p:sp>
        <p:nvSpPr>
          <p:cNvPr id="21" name="Shape 19"/>
          <p:cNvSpPr/>
          <p:nvPr/>
        </p:nvSpPr>
        <p:spPr>
          <a:xfrm>
            <a:off x="6446520" y="1627632"/>
            <a:ext cx="146304" cy="146304"/>
          </a:xfrm>
          <a:prstGeom prst="rect">
            <a:avLst/>
          </a:prstGeom>
          <a:solidFill>
            <a:srgbClr val="E93D35"/>
          </a:solidFill>
          <a:ln w="12700">
            <a:solidFill>
              <a:srgbClr val="E93D35"/>
            </a:solidFill>
            <a:prstDash val="solid"/>
          </a:ln>
        </p:spPr>
      </p:sp>
      <p:sp>
        <p:nvSpPr>
          <p:cNvPr id="22" name="Text 20"/>
          <p:cNvSpPr/>
          <p:nvPr/>
        </p:nvSpPr>
        <p:spPr>
          <a:xfrm>
            <a:off x="6748272" y="1600200"/>
            <a:ext cx="1097280" cy="219456"/>
          </a:xfrm>
          <a:prstGeom prst="rect">
            <a:avLst/>
          </a:prstGeom>
          <a:noFill/>
          <a:ln/>
        </p:spPr>
        <p:txBody>
          <a:bodyPr wrap="square" lIns="0" tIns="0" rIns="0" bIns="0" rtlCol="0" anchor="ctr"/>
          <a:lstStyle/>
          <a:p>
            <a:pPr indent="0" marL="0">
              <a:buNone/>
            </a:pPr>
            <a:r>
              <a:rPr lang="en-US" sz="1250" b="1" dirty="0">
                <a:solidFill>
                  <a:srgbClr val="111111"/>
                </a:solidFill>
              </a:rPr>
              <a:t>中心线</a:t>
            </a:r>
            <a:endParaRPr lang="en-US" sz="1250" dirty="0"/>
          </a:p>
        </p:txBody>
      </p:sp>
      <p:sp>
        <p:nvSpPr>
          <p:cNvPr id="23" name="Text 21"/>
          <p:cNvSpPr/>
          <p:nvPr/>
        </p:nvSpPr>
        <p:spPr>
          <a:xfrm>
            <a:off x="7818120" y="1609344"/>
            <a:ext cx="2971800" cy="310896"/>
          </a:xfrm>
          <a:prstGeom prst="rect">
            <a:avLst/>
          </a:prstGeom>
          <a:noFill/>
          <a:ln/>
        </p:spPr>
        <p:txBody>
          <a:bodyPr wrap="square" lIns="0" tIns="0" rIns="0" bIns="0" rtlCol="0" anchor="ctr">
            <a:normAutofit/>
          </a:bodyPr>
          <a:lstStyle/>
          <a:p>
            <a:pPr indent="0" marL="0">
              <a:buNone/>
            </a:pPr>
            <a:r>
              <a:rPr lang="en-US" sz="1040" dirty="0">
                <a:solidFill>
                  <a:srgbClr val="1F2937"/>
                </a:solidFill>
              </a:rPr>
              <a:t>左右画面以中线为缝合点，身体动作在中线附近衔接。</a:t>
            </a:r>
            <a:endParaRPr lang="en-US" sz="1040" dirty="0"/>
          </a:p>
        </p:txBody>
      </p:sp>
      <p:sp>
        <p:nvSpPr>
          <p:cNvPr id="24" name="Shape 22"/>
          <p:cNvSpPr/>
          <p:nvPr/>
        </p:nvSpPr>
        <p:spPr>
          <a:xfrm>
            <a:off x="6446520" y="2596896"/>
            <a:ext cx="146304" cy="146304"/>
          </a:xfrm>
          <a:prstGeom prst="rect">
            <a:avLst/>
          </a:prstGeom>
          <a:solidFill>
            <a:srgbClr val="1C7ED6"/>
          </a:solidFill>
          <a:ln w="12700">
            <a:solidFill>
              <a:srgbClr val="1C7ED6"/>
            </a:solidFill>
            <a:prstDash val="solid"/>
          </a:ln>
        </p:spPr>
      </p:sp>
      <p:sp>
        <p:nvSpPr>
          <p:cNvPr id="25" name="Text 23"/>
          <p:cNvSpPr/>
          <p:nvPr/>
        </p:nvSpPr>
        <p:spPr>
          <a:xfrm>
            <a:off x="6748272" y="2569464"/>
            <a:ext cx="1097280" cy="219456"/>
          </a:xfrm>
          <a:prstGeom prst="rect">
            <a:avLst/>
          </a:prstGeom>
          <a:noFill/>
          <a:ln/>
        </p:spPr>
        <p:txBody>
          <a:bodyPr wrap="square" lIns="0" tIns="0" rIns="0" bIns="0" rtlCol="0" anchor="ctr"/>
          <a:lstStyle/>
          <a:p>
            <a:pPr indent="0" marL="0">
              <a:buNone/>
            </a:pPr>
            <a:r>
              <a:rPr lang="en-US" sz="1250" b="1" dirty="0">
                <a:solidFill>
                  <a:srgbClr val="111111"/>
                </a:solidFill>
              </a:rPr>
              <a:t>运动方向</a:t>
            </a:r>
            <a:endParaRPr lang="en-US" sz="1250" dirty="0"/>
          </a:p>
        </p:txBody>
      </p:sp>
      <p:sp>
        <p:nvSpPr>
          <p:cNvPr id="26" name="Text 24"/>
          <p:cNvSpPr/>
          <p:nvPr/>
        </p:nvSpPr>
        <p:spPr>
          <a:xfrm>
            <a:off x="7818120" y="2578608"/>
            <a:ext cx="2971800" cy="310896"/>
          </a:xfrm>
          <a:prstGeom prst="rect">
            <a:avLst/>
          </a:prstGeom>
          <a:noFill/>
          <a:ln/>
        </p:spPr>
        <p:txBody>
          <a:bodyPr wrap="square" lIns="0" tIns="0" rIns="0" bIns="0" rtlCol="0" anchor="ctr">
            <a:normAutofit/>
          </a:bodyPr>
          <a:lstStyle/>
          <a:p>
            <a:pPr indent="0" marL="0">
              <a:buNone/>
            </a:pPr>
            <a:r>
              <a:rPr lang="en-US" sz="1040" dirty="0">
                <a:solidFill>
                  <a:srgbClr val="1F2937"/>
                </a:solidFill>
              </a:rPr>
              <a:t>运动员的冲刺、起跳、转身等动作保持同向或互补。</a:t>
            </a:r>
            <a:endParaRPr lang="en-US" sz="1040" dirty="0"/>
          </a:p>
        </p:txBody>
      </p:sp>
      <p:sp>
        <p:nvSpPr>
          <p:cNvPr id="27" name="Shape 25"/>
          <p:cNvSpPr/>
          <p:nvPr/>
        </p:nvSpPr>
        <p:spPr>
          <a:xfrm>
            <a:off x="6446520" y="3566160"/>
            <a:ext cx="146304" cy="146304"/>
          </a:xfrm>
          <a:prstGeom prst="rect">
            <a:avLst/>
          </a:prstGeom>
          <a:solidFill>
            <a:srgbClr val="E93D35"/>
          </a:solidFill>
          <a:ln w="12700">
            <a:solidFill>
              <a:srgbClr val="E93D35"/>
            </a:solidFill>
            <a:prstDash val="solid"/>
          </a:ln>
        </p:spPr>
      </p:sp>
      <p:sp>
        <p:nvSpPr>
          <p:cNvPr id="28" name="Text 26"/>
          <p:cNvSpPr/>
          <p:nvPr/>
        </p:nvSpPr>
        <p:spPr>
          <a:xfrm>
            <a:off x="6748272" y="3538728"/>
            <a:ext cx="1097280" cy="219456"/>
          </a:xfrm>
          <a:prstGeom prst="rect">
            <a:avLst/>
          </a:prstGeom>
          <a:noFill/>
          <a:ln/>
        </p:spPr>
        <p:txBody>
          <a:bodyPr wrap="square" lIns="0" tIns="0" rIns="0" bIns="0" rtlCol="0" anchor="ctr"/>
          <a:lstStyle/>
          <a:p>
            <a:pPr indent="0" marL="0">
              <a:buNone/>
            </a:pPr>
            <a:r>
              <a:rPr lang="en-US" sz="1250" b="1" dirty="0">
                <a:solidFill>
                  <a:srgbClr val="111111"/>
                </a:solidFill>
              </a:rPr>
              <a:t>画面重心</a:t>
            </a:r>
            <a:endParaRPr lang="en-US" sz="1250" dirty="0"/>
          </a:p>
        </p:txBody>
      </p:sp>
      <p:sp>
        <p:nvSpPr>
          <p:cNvPr id="29" name="Text 27"/>
          <p:cNvSpPr/>
          <p:nvPr/>
        </p:nvSpPr>
        <p:spPr>
          <a:xfrm>
            <a:off x="7818120" y="3547872"/>
            <a:ext cx="2971800" cy="310896"/>
          </a:xfrm>
          <a:prstGeom prst="rect">
            <a:avLst/>
          </a:prstGeom>
          <a:noFill/>
          <a:ln/>
        </p:spPr>
        <p:txBody>
          <a:bodyPr wrap="square" lIns="0" tIns="0" rIns="0" bIns="0" rtlCol="0" anchor="ctr">
            <a:normAutofit/>
          </a:bodyPr>
          <a:lstStyle/>
          <a:p>
            <a:pPr indent="0" marL="0">
              <a:buNone/>
            </a:pPr>
            <a:r>
              <a:rPr lang="en-US" sz="1040" dirty="0">
                <a:solidFill>
                  <a:srgbClr val="1F2937"/>
                </a:solidFill>
              </a:rPr>
              <a:t>头部、肩部、球体或肢体落在相近位置，降低拼接突兀感。</a:t>
            </a:r>
            <a:endParaRPr lang="en-US" sz="1040" dirty="0"/>
          </a:p>
        </p:txBody>
      </p:sp>
      <p:sp>
        <p:nvSpPr>
          <p:cNvPr id="30" name="Shape 28"/>
          <p:cNvSpPr/>
          <p:nvPr/>
        </p:nvSpPr>
        <p:spPr>
          <a:xfrm>
            <a:off x="6446520" y="4535424"/>
            <a:ext cx="146304" cy="146304"/>
          </a:xfrm>
          <a:prstGeom prst="rect">
            <a:avLst/>
          </a:prstGeom>
          <a:solidFill>
            <a:srgbClr val="1C7ED6"/>
          </a:solidFill>
          <a:ln w="12700">
            <a:solidFill>
              <a:srgbClr val="1C7ED6"/>
            </a:solidFill>
            <a:prstDash val="solid"/>
          </a:ln>
        </p:spPr>
      </p:sp>
      <p:sp>
        <p:nvSpPr>
          <p:cNvPr id="31" name="Text 29"/>
          <p:cNvSpPr/>
          <p:nvPr/>
        </p:nvSpPr>
        <p:spPr>
          <a:xfrm>
            <a:off x="6748272" y="4507992"/>
            <a:ext cx="1097280" cy="219456"/>
          </a:xfrm>
          <a:prstGeom prst="rect">
            <a:avLst/>
          </a:prstGeom>
          <a:noFill/>
          <a:ln/>
        </p:spPr>
        <p:txBody>
          <a:bodyPr wrap="square" lIns="0" tIns="0" rIns="0" bIns="0" rtlCol="0" anchor="ctr"/>
          <a:lstStyle/>
          <a:p>
            <a:pPr indent="0" marL="0">
              <a:buNone/>
            </a:pPr>
            <a:r>
              <a:rPr lang="en-US" sz="1250" b="1" dirty="0">
                <a:solidFill>
                  <a:srgbClr val="111111"/>
                </a:solidFill>
              </a:rPr>
              <a:t>意义转化</a:t>
            </a:r>
            <a:endParaRPr lang="en-US" sz="1250" dirty="0"/>
          </a:p>
        </p:txBody>
      </p:sp>
      <p:sp>
        <p:nvSpPr>
          <p:cNvPr id="32" name="Text 30"/>
          <p:cNvSpPr/>
          <p:nvPr/>
        </p:nvSpPr>
        <p:spPr>
          <a:xfrm>
            <a:off x="7818120" y="4517136"/>
            <a:ext cx="2971800" cy="310896"/>
          </a:xfrm>
          <a:prstGeom prst="rect">
            <a:avLst/>
          </a:prstGeom>
          <a:noFill/>
          <a:ln/>
        </p:spPr>
        <p:txBody>
          <a:bodyPr wrap="square" lIns="0" tIns="0" rIns="0" bIns="0" rtlCol="0" anchor="ctr">
            <a:normAutofit/>
          </a:bodyPr>
          <a:lstStyle/>
          <a:p>
            <a:pPr indent="0" marL="0">
              <a:buNone/>
            </a:pPr>
            <a:r>
              <a:rPr lang="en-US" sz="1040" dirty="0">
                <a:solidFill>
                  <a:srgbClr val="1F2937"/>
                </a:solidFill>
              </a:rPr>
              <a:t>不同性别、项目、国家的影像被剪成同一个节奏，暗示共同处境。</a:t>
            </a:r>
            <a:endParaRPr lang="en-US" sz="1040" dirty="0"/>
          </a:p>
        </p:txBody>
      </p:sp>
      <p:sp>
        <p:nvSpPr>
          <p:cNvPr id="33" name="Shape 31"/>
          <p:cNvSpPr/>
          <p:nvPr/>
        </p:nvSpPr>
        <p:spPr>
          <a:xfrm>
            <a:off x="3264408" y="1581912"/>
            <a:ext cx="0" cy="3749040"/>
          </a:xfrm>
          <a:prstGeom prst="line">
            <a:avLst/>
          </a:prstGeom>
          <a:noFill/>
          <a:ln w="38100">
            <a:solidFill>
              <a:srgbClr val="F7C948"/>
            </a:solidFill>
            <a:prstDash val="solid"/>
          </a:ln>
        </p:spPr>
      </p:sp>
      <p:sp>
        <p:nvSpPr>
          <p:cNvPr id="34" name="Text 32"/>
          <p:cNvSpPr/>
          <p:nvPr/>
        </p:nvSpPr>
        <p:spPr>
          <a:xfrm>
            <a:off x="2788920" y="5468112"/>
            <a:ext cx="960120" cy="164592"/>
          </a:xfrm>
          <a:prstGeom prst="rect">
            <a:avLst/>
          </a:prstGeom>
          <a:noFill/>
          <a:ln/>
        </p:spPr>
        <p:txBody>
          <a:bodyPr wrap="square" lIns="0" tIns="0" rIns="0" bIns="0" rtlCol="0" anchor="ctr"/>
          <a:lstStyle/>
          <a:p>
            <a:pPr algn="ctr" indent="0" marL="0">
              <a:buNone/>
            </a:pPr>
            <a:r>
              <a:rPr lang="en-US" sz="850" b="1" dirty="0">
                <a:solidFill>
                  <a:srgbClr val="E93D35"/>
                </a:solidFill>
              </a:rPr>
              <a:t>视觉缝合线</a:t>
            </a:r>
            <a:endParaRPr lang="en-US" sz="850" dirty="0"/>
          </a:p>
        </p:txBody>
      </p:sp>
      <p:sp>
        <p:nvSpPr>
          <p:cNvPr id="35" name="Text 33"/>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SOUND &amp; RHYTHM</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声音与节奏：旁白推动意义上升</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Shape 4"/>
          <p:cNvSpPr/>
          <p:nvPr/>
        </p:nvSpPr>
        <p:spPr>
          <a:xfrm>
            <a:off x="932688" y="3813048"/>
            <a:ext cx="1755648" cy="713232"/>
          </a:xfrm>
          <a:prstGeom prst="rect">
            <a:avLst/>
          </a:prstGeom>
          <a:solidFill>
            <a:srgbClr val="1C7ED6"/>
          </a:solidFill>
          <a:ln w="12700">
            <a:solidFill>
              <a:srgbClr val="1C7ED6"/>
            </a:solidFill>
            <a:prstDash val="solid"/>
          </a:ln>
        </p:spPr>
      </p:sp>
      <p:sp>
        <p:nvSpPr>
          <p:cNvPr id="7" name="Text 5"/>
          <p:cNvSpPr/>
          <p:nvPr/>
        </p:nvSpPr>
        <p:spPr>
          <a:xfrm>
            <a:off x="932688" y="4709160"/>
            <a:ext cx="1755648" cy="219456"/>
          </a:xfrm>
          <a:prstGeom prst="rect">
            <a:avLst/>
          </a:prstGeom>
          <a:noFill/>
          <a:ln/>
        </p:spPr>
        <p:txBody>
          <a:bodyPr wrap="square" lIns="0" tIns="0" rIns="0" bIns="0" rtlCol="0" anchor="ctr"/>
          <a:lstStyle/>
          <a:p>
            <a:pPr algn="ctr" indent="0" marL="0">
              <a:buNone/>
            </a:pPr>
            <a:r>
              <a:rPr lang="en-US" sz="1300" b="1" dirty="0">
                <a:solidFill>
                  <a:srgbClr val="111111"/>
                </a:solidFill>
              </a:rPr>
              <a:t>开端</a:t>
            </a:r>
            <a:endParaRPr lang="en-US" sz="1300" dirty="0"/>
          </a:p>
        </p:txBody>
      </p:sp>
      <p:sp>
        <p:nvSpPr>
          <p:cNvPr id="8" name="Text 6"/>
          <p:cNvSpPr/>
          <p:nvPr/>
        </p:nvSpPr>
        <p:spPr>
          <a:xfrm>
            <a:off x="676656" y="5102352"/>
            <a:ext cx="2267712" cy="438912"/>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从困境和限制进入：画面强调停顿、分离与不确定。</a:t>
            </a:r>
            <a:endParaRPr lang="en-US" sz="920" dirty="0"/>
          </a:p>
        </p:txBody>
      </p:sp>
      <p:sp>
        <p:nvSpPr>
          <p:cNvPr id="9" name="Shape 7"/>
          <p:cNvSpPr/>
          <p:nvPr/>
        </p:nvSpPr>
        <p:spPr>
          <a:xfrm>
            <a:off x="3721608" y="3557016"/>
            <a:ext cx="1755648" cy="969264"/>
          </a:xfrm>
          <a:prstGeom prst="rect">
            <a:avLst/>
          </a:prstGeom>
          <a:solidFill>
            <a:srgbClr val="4DD0E1"/>
          </a:solidFill>
          <a:ln w="12700">
            <a:solidFill>
              <a:srgbClr val="4DD0E1"/>
            </a:solidFill>
            <a:prstDash val="solid"/>
          </a:ln>
        </p:spPr>
      </p:sp>
      <p:sp>
        <p:nvSpPr>
          <p:cNvPr id="10" name="Text 8"/>
          <p:cNvSpPr/>
          <p:nvPr/>
        </p:nvSpPr>
        <p:spPr>
          <a:xfrm>
            <a:off x="3721608" y="4709160"/>
            <a:ext cx="1755648" cy="219456"/>
          </a:xfrm>
          <a:prstGeom prst="rect">
            <a:avLst/>
          </a:prstGeom>
          <a:noFill/>
          <a:ln/>
        </p:spPr>
        <p:txBody>
          <a:bodyPr wrap="square" lIns="0" tIns="0" rIns="0" bIns="0" rtlCol="0" anchor="ctr"/>
          <a:lstStyle/>
          <a:p>
            <a:pPr algn="ctr" indent="0" marL="0">
              <a:buNone/>
            </a:pPr>
            <a:r>
              <a:rPr lang="en-US" sz="1300" b="1" dirty="0">
                <a:solidFill>
                  <a:srgbClr val="111111"/>
                </a:solidFill>
              </a:rPr>
              <a:t>推进</a:t>
            </a:r>
            <a:endParaRPr lang="en-US" sz="1300" dirty="0"/>
          </a:p>
        </p:txBody>
      </p:sp>
      <p:sp>
        <p:nvSpPr>
          <p:cNvPr id="11" name="Text 9"/>
          <p:cNvSpPr/>
          <p:nvPr/>
        </p:nvSpPr>
        <p:spPr>
          <a:xfrm>
            <a:off x="3465576" y="5102352"/>
            <a:ext cx="2267712" cy="438912"/>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镜头匹配越来越密集，运动动作形成连续爆发。</a:t>
            </a:r>
            <a:endParaRPr lang="en-US" sz="920" dirty="0"/>
          </a:p>
        </p:txBody>
      </p:sp>
      <p:sp>
        <p:nvSpPr>
          <p:cNvPr id="12" name="Shape 10"/>
          <p:cNvSpPr/>
          <p:nvPr/>
        </p:nvSpPr>
        <p:spPr>
          <a:xfrm>
            <a:off x="6510528" y="3300984"/>
            <a:ext cx="1755648" cy="1225296"/>
          </a:xfrm>
          <a:prstGeom prst="rect">
            <a:avLst/>
          </a:prstGeom>
          <a:solidFill>
            <a:srgbClr val="F7C948"/>
          </a:solidFill>
          <a:ln w="12700">
            <a:solidFill>
              <a:srgbClr val="F7C948"/>
            </a:solidFill>
            <a:prstDash val="solid"/>
          </a:ln>
        </p:spPr>
      </p:sp>
      <p:sp>
        <p:nvSpPr>
          <p:cNvPr id="13" name="Text 11"/>
          <p:cNvSpPr/>
          <p:nvPr/>
        </p:nvSpPr>
        <p:spPr>
          <a:xfrm>
            <a:off x="6510528" y="4709160"/>
            <a:ext cx="1755648" cy="219456"/>
          </a:xfrm>
          <a:prstGeom prst="rect">
            <a:avLst/>
          </a:prstGeom>
          <a:noFill/>
          <a:ln/>
        </p:spPr>
        <p:txBody>
          <a:bodyPr wrap="square" lIns="0" tIns="0" rIns="0" bIns="0" rtlCol="0" anchor="ctr"/>
          <a:lstStyle/>
          <a:p>
            <a:pPr algn="ctr" indent="0" marL="0">
              <a:buNone/>
            </a:pPr>
            <a:r>
              <a:rPr lang="en-US" sz="1300" b="1" dirty="0">
                <a:solidFill>
                  <a:srgbClr val="111111"/>
                </a:solidFill>
              </a:rPr>
              <a:t>高潮</a:t>
            </a:r>
            <a:endParaRPr lang="en-US" sz="1300" dirty="0"/>
          </a:p>
        </p:txBody>
      </p:sp>
      <p:sp>
        <p:nvSpPr>
          <p:cNvPr id="14" name="Text 12"/>
          <p:cNvSpPr/>
          <p:nvPr/>
        </p:nvSpPr>
        <p:spPr>
          <a:xfrm>
            <a:off x="6254496" y="5102352"/>
            <a:ext cx="2267712" cy="438912"/>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旁白、音乐与高强度动作叠合，情绪转为团结与希望。</a:t>
            </a:r>
            <a:endParaRPr lang="en-US" sz="920" dirty="0"/>
          </a:p>
        </p:txBody>
      </p:sp>
      <p:sp>
        <p:nvSpPr>
          <p:cNvPr id="15" name="Shape 13"/>
          <p:cNvSpPr/>
          <p:nvPr/>
        </p:nvSpPr>
        <p:spPr>
          <a:xfrm>
            <a:off x="9299448" y="3044952"/>
            <a:ext cx="1755648" cy="1481328"/>
          </a:xfrm>
          <a:prstGeom prst="rect">
            <a:avLst/>
          </a:prstGeom>
          <a:solidFill>
            <a:srgbClr val="E93D35"/>
          </a:solidFill>
          <a:ln w="12700">
            <a:solidFill>
              <a:srgbClr val="E93D35"/>
            </a:solidFill>
            <a:prstDash val="solid"/>
          </a:ln>
        </p:spPr>
      </p:sp>
      <p:sp>
        <p:nvSpPr>
          <p:cNvPr id="16" name="Text 14"/>
          <p:cNvSpPr/>
          <p:nvPr/>
        </p:nvSpPr>
        <p:spPr>
          <a:xfrm>
            <a:off x="9299448" y="4709160"/>
            <a:ext cx="1755648" cy="219456"/>
          </a:xfrm>
          <a:prstGeom prst="rect">
            <a:avLst/>
          </a:prstGeom>
          <a:noFill/>
          <a:ln/>
        </p:spPr>
        <p:txBody>
          <a:bodyPr wrap="square" lIns="0" tIns="0" rIns="0" bIns="0" rtlCol="0" anchor="ctr"/>
          <a:lstStyle/>
          <a:p>
            <a:pPr algn="ctr" indent="0" marL="0">
              <a:buNone/>
            </a:pPr>
            <a:r>
              <a:rPr lang="en-US" sz="1300" b="1" dirty="0">
                <a:solidFill>
                  <a:srgbClr val="111111"/>
                </a:solidFill>
              </a:rPr>
              <a:t>收束</a:t>
            </a:r>
            <a:endParaRPr lang="en-US" sz="1300" dirty="0"/>
          </a:p>
        </p:txBody>
      </p:sp>
      <p:sp>
        <p:nvSpPr>
          <p:cNvPr id="17" name="Text 15"/>
          <p:cNvSpPr/>
          <p:nvPr/>
        </p:nvSpPr>
        <p:spPr>
          <a:xfrm>
            <a:off x="9043416" y="5102352"/>
            <a:ext cx="2267712" cy="438912"/>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品牌口号回到标题，完成从个人到共同体的价值归纳。</a:t>
            </a:r>
            <a:endParaRPr lang="en-US" sz="920" dirty="0"/>
          </a:p>
        </p:txBody>
      </p:sp>
      <p:sp>
        <p:nvSpPr>
          <p:cNvPr id="18" name="Shape 16"/>
          <p:cNvSpPr/>
          <p:nvPr/>
        </p:nvSpPr>
        <p:spPr>
          <a:xfrm>
            <a:off x="777240" y="4526280"/>
            <a:ext cx="10698480" cy="0"/>
          </a:xfrm>
          <a:prstGeom prst="line">
            <a:avLst/>
          </a:prstGeom>
          <a:noFill/>
          <a:ln w="15240">
            <a:solidFill>
              <a:srgbClr val="111111"/>
            </a:solidFill>
            <a:prstDash val="solid"/>
          </a:ln>
        </p:spPr>
      </p:sp>
      <p:sp>
        <p:nvSpPr>
          <p:cNvPr id="19" name="Text 17"/>
          <p:cNvSpPr/>
          <p:nvPr/>
        </p:nvSpPr>
        <p:spPr>
          <a:xfrm>
            <a:off x="1051560" y="1755648"/>
            <a:ext cx="10012680" cy="685800"/>
          </a:xfrm>
          <a:prstGeom prst="rect">
            <a:avLst/>
          </a:prstGeom>
          <a:noFill/>
          <a:ln/>
        </p:spPr>
        <p:txBody>
          <a:bodyPr wrap="square" lIns="0" tIns="0" rIns="0" bIns="0" rtlCol="0" anchor="ctr">
            <a:normAutofit/>
          </a:bodyPr>
          <a:lstStyle/>
          <a:p>
            <a:pPr algn="ctr" indent="0" marL="0">
              <a:buNone/>
            </a:pPr>
            <a:r>
              <a:rPr lang="en-US" sz="1800" b="1" dirty="0">
                <a:solidFill>
                  <a:srgbClr val="111111"/>
                </a:solidFill>
              </a:rPr>
              <a:t>Megan Rapinoe 的旁白不是单纯解释画面，而是不断把“运动行为”提升为“社会情绪”：坚持、平等、连接、共同前进。</a:t>
            </a:r>
            <a:endParaRPr lang="en-US" sz="1800" dirty="0"/>
          </a:p>
        </p:txBody>
      </p:sp>
      <p:sp>
        <p:nvSpPr>
          <p:cNvPr id="20" name="Shape 18"/>
          <p:cNvSpPr/>
          <p:nvPr/>
        </p:nvSpPr>
        <p:spPr>
          <a:xfrm>
            <a:off x="2331720" y="2852928"/>
            <a:ext cx="914400" cy="347472"/>
          </a:xfrm>
          <a:prstGeom prst="roundRect">
            <a:avLst>
              <a:gd name="adj" fmla="val 15789"/>
            </a:avLst>
          </a:prstGeom>
          <a:solidFill>
            <a:srgbClr val="E93D35"/>
          </a:solidFill>
          <a:ln w="12700">
            <a:solidFill>
              <a:srgbClr val="E93D35">
                <a:alpha val="0"/>
              </a:srgbClr>
            </a:solidFill>
            <a:prstDash val="solid"/>
          </a:ln>
        </p:spPr>
      </p:sp>
      <p:sp>
        <p:nvSpPr>
          <p:cNvPr id="21" name="Text 19"/>
          <p:cNvSpPr/>
          <p:nvPr/>
        </p:nvSpPr>
        <p:spPr>
          <a:xfrm>
            <a:off x="2331720" y="2939796"/>
            <a:ext cx="914400" cy="146304"/>
          </a:xfrm>
          <a:prstGeom prst="rect">
            <a:avLst/>
          </a:prstGeom>
          <a:noFill/>
          <a:ln/>
        </p:spPr>
        <p:txBody>
          <a:bodyPr wrap="square" lIns="0" tIns="0" rIns="0" bIns="0" rtlCol="0" anchor="ctr"/>
          <a:lstStyle/>
          <a:p>
            <a:pPr algn="ctr" indent="0" marL="0">
              <a:buNone/>
            </a:pPr>
            <a:r>
              <a:rPr lang="en-US" sz="800" b="1" dirty="0">
                <a:solidFill>
                  <a:srgbClr val="FFFFFF"/>
                </a:solidFill>
              </a:rPr>
              <a:t>旁白</a:t>
            </a:r>
            <a:endParaRPr lang="en-US" sz="800" dirty="0"/>
          </a:p>
        </p:txBody>
      </p:sp>
      <p:sp>
        <p:nvSpPr>
          <p:cNvPr id="22" name="Shape 20"/>
          <p:cNvSpPr/>
          <p:nvPr/>
        </p:nvSpPr>
        <p:spPr>
          <a:xfrm>
            <a:off x="3730752" y="2852928"/>
            <a:ext cx="914400" cy="347472"/>
          </a:xfrm>
          <a:prstGeom prst="roundRect">
            <a:avLst>
              <a:gd name="adj" fmla="val 15789"/>
            </a:avLst>
          </a:prstGeom>
          <a:solidFill>
            <a:srgbClr val="1C7ED6"/>
          </a:solidFill>
          <a:ln w="12700">
            <a:solidFill>
              <a:srgbClr val="1C7ED6">
                <a:alpha val="0"/>
              </a:srgbClr>
            </a:solidFill>
            <a:prstDash val="solid"/>
          </a:ln>
        </p:spPr>
      </p:sp>
      <p:sp>
        <p:nvSpPr>
          <p:cNvPr id="23" name="Text 21"/>
          <p:cNvSpPr/>
          <p:nvPr/>
        </p:nvSpPr>
        <p:spPr>
          <a:xfrm>
            <a:off x="3730752" y="2939796"/>
            <a:ext cx="914400" cy="146304"/>
          </a:xfrm>
          <a:prstGeom prst="rect">
            <a:avLst/>
          </a:prstGeom>
          <a:noFill/>
          <a:ln/>
        </p:spPr>
        <p:txBody>
          <a:bodyPr wrap="square" lIns="0" tIns="0" rIns="0" bIns="0" rtlCol="0" anchor="ctr"/>
          <a:lstStyle/>
          <a:p>
            <a:pPr algn="ctr" indent="0" marL="0">
              <a:buNone/>
            </a:pPr>
            <a:r>
              <a:rPr lang="en-US" sz="800" b="1" dirty="0">
                <a:solidFill>
                  <a:srgbClr val="FFFFFF"/>
                </a:solidFill>
              </a:rPr>
              <a:t>音乐</a:t>
            </a:r>
            <a:endParaRPr lang="en-US" sz="800" dirty="0"/>
          </a:p>
        </p:txBody>
      </p:sp>
      <p:sp>
        <p:nvSpPr>
          <p:cNvPr id="24" name="Shape 22"/>
          <p:cNvSpPr/>
          <p:nvPr/>
        </p:nvSpPr>
        <p:spPr>
          <a:xfrm>
            <a:off x="5120640" y="2852928"/>
            <a:ext cx="1078992" cy="347472"/>
          </a:xfrm>
          <a:prstGeom prst="roundRect">
            <a:avLst>
              <a:gd name="adj" fmla="val 15789"/>
            </a:avLst>
          </a:prstGeom>
          <a:solidFill>
            <a:srgbClr val="F7C948"/>
          </a:solidFill>
          <a:ln w="12700">
            <a:solidFill>
              <a:srgbClr val="F7C948">
                <a:alpha val="0"/>
              </a:srgbClr>
            </a:solidFill>
            <a:prstDash val="solid"/>
          </a:ln>
        </p:spPr>
      </p:sp>
      <p:sp>
        <p:nvSpPr>
          <p:cNvPr id="25" name="Text 23"/>
          <p:cNvSpPr/>
          <p:nvPr/>
        </p:nvSpPr>
        <p:spPr>
          <a:xfrm>
            <a:off x="5120640" y="2939796"/>
            <a:ext cx="1078992" cy="146304"/>
          </a:xfrm>
          <a:prstGeom prst="rect">
            <a:avLst/>
          </a:prstGeom>
          <a:noFill/>
          <a:ln/>
        </p:spPr>
        <p:txBody>
          <a:bodyPr wrap="square" lIns="0" tIns="0" rIns="0" bIns="0" rtlCol="0" anchor="ctr"/>
          <a:lstStyle/>
          <a:p>
            <a:pPr algn="ctr" indent="0" marL="0">
              <a:buNone/>
            </a:pPr>
            <a:r>
              <a:rPr lang="en-US" sz="800" b="1" dirty="0">
                <a:solidFill>
                  <a:srgbClr val="111111"/>
                </a:solidFill>
              </a:rPr>
              <a:t>剪辑点</a:t>
            </a:r>
            <a:endParaRPr lang="en-US" sz="800" dirty="0"/>
          </a:p>
        </p:txBody>
      </p:sp>
      <p:sp>
        <p:nvSpPr>
          <p:cNvPr id="26" name="Shape 24"/>
          <p:cNvSpPr/>
          <p:nvPr/>
        </p:nvSpPr>
        <p:spPr>
          <a:xfrm>
            <a:off x="6693408" y="2852928"/>
            <a:ext cx="1207008" cy="347472"/>
          </a:xfrm>
          <a:prstGeom prst="roundRect">
            <a:avLst>
              <a:gd name="adj" fmla="val 15789"/>
            </a:avLst>
          </a:prstGeom>
          <a:solidFill>
            <a:srgbClr val="2F9E44"/>
          </a:solidFill>
          <a:ln w="12700">
            <a:solidFill>
              <a:srgbClr val="2F9E44">
                <a:alpha val="0"/>
              </a:srgbClr>
            </a:solidFill>
            <a:prstDash val="solid"/>
          </a:ln>
        </p:spPr>
      </p:sp>
      <p:sp>
        <p:nvSpPr>
          <p:cNvPr id="27" name="Text 25"/>
          <p:cNvSpPr/>
          <p:nvPr/>
        </p:nvSpPr>
        <p:spPr>
          <a:xfrm>
            <a:off x="6693408" y="2939796"/>
            <a:ext cx="1207008" cy="146304"/>
          </a:xfrm>
          <a:prstGeom prst="rect">
            <a:avLst/>
          </a:prstGeom>
          <a:noFill/>
          <a:ln/>
        </p:spPr>
        <p:txBody>
          <a:bodyPr wrap="square" lIns="0" tIns="0" rIns="0" bIns="0" rtlCol="0" anchor="ctr"/>
          <a:lstStyle/>
          <a:p>
            <a:pPr algn="ctr" indent="0" marL="0">
              <a:buNone/>
            </a:pPr>
            <a:r>
              <a:rPr lang="en-US" sz="800" b="1" dirty="0">
                <a:solidFill>
                  <a:srgbClr val="FFFFFF"/>
                </a:solidFill>
              </a:rPr>
              <a:t>动作峰值</a:t>
            </a:r>
            <a:endParaRPr lang="en-US" sz="800" dirty="0"/>
          </a:p>
        </p:txBody>
      </p:sp>
      <p:sp>
        <p:nvSpPr>
          <p:cNvPr id="28" name="Text 26"/>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F"/>
          </a:solidFill>
          <a:ln w="12700">
            <a:solidFill>
              <a:srgbClr val="F7F4E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PART 04</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影像语言分析</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Shape 4"/>
          <p:cNvSpPr/>
          <p:nvPr/>
        </p:nvSpPr>
        <p:spPr>
          <a:xfrm>
            <a:off x="658368" y="1627632"/>
            <a:ext cx="3273552" cy="1353312"/>
          </a:xfrm>
          <a:prstGeom prst="roundRect">
            <a:avLst>
              <a:gd name="adj" fmla="val 5405"/>
            </a:avLst>
          </a:prstGeom>
          <a:solidFill>
            <a:srgbClr val="FFFFFF"/>
          </a:solidFill>
          <a:ln w="12700">
            <a:solidFill>
              <a:srgbClr val="E4DED3"/>
            </a:solidFill>
            <a:prstDash val="solid"/>
          </a:ln>
        </p:spPr>
      </p:sp>
      <p:sp>
        <p:nvSpPr>
          <p:cNvPr id="7" name="Shape 5"/>
          <p:cNvSpPr/>
          <p:nvPr/>
        </p:nvSpPr>
        <p:spPr>
          <a:xfrm>
            <a:off x="877824" y="1883664"/>
            <a:ext cx="438912" cy="438912"/>
          </a:xfrm>
          <a:prstGeom prst="ellipse">
            <a:avLst/>
          </a:prstGeom>
          <a:solidFill>
            <a:srgbClr val="E93D35"/>
          </a:solidFill>
          <a:ln w="12700">
            <a:solidFill>
              <a:srgbClr val="E93D35"/>
            </a:solidFill>
            <a:prstDash val="solid"/>
          </a:ln>
        </p:spPr>
      </p:sp>
      <p:sp>
        <p:nvSpPr>
          <p:cNvPr id="8" name="Text 6"/>
          <p:cNvSpPr/>
          <p:nvPr/>
        </p:nvSpPr>
        <p:spPr>
          <a:xfrm>
            <a:off x="1481328" y="1874520"/>
            <a:ext cx="1371600" cy="237744"/>
          </a:xfrm>
          <a:prstGeom prst="rect">
            <a:avLst/>
          </a:prstGeom>
          <a:noFill/>
          <a:ln/>
        </p:spPr>
        <p:txBody>
          <a:bodyPr wrap="square" lIns="0" tIns="0" rIns="0" bIns="0" rtlCol="0" anchor="ctr"/>
          <a:lstStyle/>
          <a:p>
            <a:pPr indent="0" marL="0">
              <a:buNone/>
            </a:pPr>
            <a:r>
              <a:rPr lang="en-US" sz="1500" b="1" dirty="0">
                <a:solidFill>
                  <a:srgbClr val="111111"/>
                </a:solidFill>
              </a:rPr>
              <a:t>对称</a:t>
            </a:r>
            <a:endParaRPr lang="en-US" sz="1500" dirty="0"/>
          </a:p>
        </p:txBody>
      </p:sp>
      <p:sp>
        <p:nvSpPr>
          <p:cNvPr id="9" name="Text 7"/>
          <p:cNvSpPr/>
          <p:nvPr/>
        </p:nvSpPr>
        <p:spPr>
          <a:xfrm>
            <a:off x="1481328" y="2286000"/>
            <a:ext cx="2057400" cy="411480"/>
          </a:xfrm>
          <a:prstGeom prst="rect">
            <a:avLst/>
          </a:prstGeom>
          <a:noFill/>
          <a:ln/>
        </p:spPr>
        <p:txBody>
          <a:bodyPr wrap="square" lIns="0" tIns="0" rIns="0" bIns="0" rtlCol="0" anchor="ctr">
            <a:normAutofit/>
          </a:bodyPr>
          <a:lstStyle/>
          <a:p>
            <a:pPr indent="0" marL="0">
              <a:buNone/>
            </a:pPr>
            <a:r>
              <a:rPr lang="en-US" sz="940" dirty="0">
                <a:solidFill>
                  <a:srgbClr val="1F2937"/>
                </a:solidFill>
              </a:rPr>
              <a:t>分屏结构制造镜像关系，使两个不同场景看起来属于同一空间。</a:t>
            </a:r>
            <a:endParaRPr lang="en-US" sz="940" dirty="0"/>
          </a:p>
        </p:txBody>
      </p:sp>
      <p:sp>
        <p:nvSpPr>
          <p:cNvPr id="10" name="Shape 8"/>
          <p:cNvSpPr/>
          <p:nvPr/>
        </p:nvSpPr>
        <p:spPr>
          <a:xfrm>
            <a:off x="4389120" y="1627632"/>
            <a:ext cx="3273552" cy="1353312"/>
          </a:xfrm>
          <a:prstGeom prst="roundRect">
            <a:avLst>
              <a:gd name="adj" fmla="val 5405"/>
            </a:avLst>
          </a:prstGeom>
          <a:solidFill>
            <a:srgbClr val="FFFFFF"/>
          </a:solidFill>
          <a:ln w="12700">
            <a:solidFill>
              <a:srgbClr val="E4DED3"/>
            </a:solidFill>
            <a:prstDash val="solid"/>
          </a:ln>
        </p:spPr>
      </p:sp>
      <p:sp>
        <p:nvSpPr>
          <p:cNvPr id="11" name="Shape 9"/>
          <p:cNvSpPr/>
          <p:nvPr/>
        </p:nvSpPr>
        <p:spPr>
          <a:xfrm>
            <a:off x="4608576" y="1883664"/>
            <a:ext cx="438912" cy="438912"/>
          </a:xfrm>
          <a:prstGeom prst="ellipse">
            <a:avLst/>
          </a:prstGeom>
          <a:solidFill>
            <a:srgbClr val="1C7ED6"/>
          </a:solidFill>
          <a:ln w="12700">
            <a:solidFill>
              <a:srgbClr val="1C7ED6"/>
            </a:solidFill>
            <a:prstDash val="solid"/>
          </a:ln>
        </p:spPr>
      </p:sp>
      <p:sp>
        <p:nvSpPr>
          <p:cNvPr id="12" name="Text 10"/>
          <p:cNvSpPr/>
          <p:nvPr/>
        </p:nvSpPr>
        <p:spPr>
          <a:xfrm>
            <a:off x="5212080" y="1874520"/>
            <a:ext cx="1371600" cy="237744"/>
          </a:xfrm>
          <a:prstGeom prst="rect">
            <a:avLst/>
          </a:prstGeom>
          <a:noFill/>
          <a:ln/>
        </p:spPr>
        <p:txBody>
          <a:bodyPr wrap="square" lIns="0" tIns="0" rIns="0" bIns="0" rtlCol="0" anchor="ctr"/>
          <a:lstStyle/>
          <a:p>
            <a:pPr indent="0" marL="0">
              <a:buNone/>
            </a:pPr>
            <a:r>
              <a:rPr lang="en-US" sz="1500" b="1" dirty="0">
                <a:solidFill>
                  <a:srgbClr val="111111"/>
                </a:solidFill>
              </a:rPr>
              <a:t>并置</a:t>
            </a:r>
            <a:endParaRPr lang="en-US" sz="1500" dirty="0"/>
          </a:p>
        </p:txBody>
      </p:sp>
      <p:sp>
        <p:nvSpPr>
          <p:cNvPr id="13" name="Text 11"/>
          <p:cNvSpPr/>
          <p:nvPr/>
        </p:nvSpPr>
        <p:spPr>
          <a:xfrm>
            <a:off x="5212080" y="2286000"/>
            <a:ext cx="2057400" cy="411480"/>
          </a:xfrm>
          <a:prstGeom prst="rect">
            <a:avLst/>
          </a:prstGeom>
          <a:noFill/>
          <a:ln/>
        </p:spPr>
        <p:txBody>
          <a:bodyPr wrap="square" lIns="0" tIns="0" rIns="0" bIns="0" rtlCol="0" anchor="ctr">
            <a:normAutofit/>
          </a:bodyPr>
          <a:lstStyle/>
          <a:p>
            <a:pPr indent="0" marL="0">
              <a:buNone/>
            </a:pPr>
            <a:r>
              <a:rPr lang="en-US" sz="940" dirty="0">
                <a:solidFill>
                  <a:srgbClr val="1F2937"/>
                </a:solidFill>
              </a:rPr>
              <a:t>不同项目、身份和语境同时出现，形成跨越边界的意义比较。</a:t>
            </a:r>
            <a:endParaRPr lang="en-US" sz="940" dirty="0"/>
          </a:p>
        </p:txBody>
      </p:sp>
      <p:sp>
        <p:nvSpPr>
          <p:cNvPr id="14" name="Shape 12"/>
          <p:cNvSpPr/>
          <p:nvPr/>
        </p:nvSpPr>
        <p:spPr>
          <a:xfrm>
            <a:off x="8119872" y="1627632"/>
            <a:ext cx="3273552" cy="1353312"/>
          </a:xfrm>
          <a:prstGeom prst="roundRect">
            <a:avLst>
              <a:gd name="adj" fmla="val 5405"/>
            </a:avLst>
          </a:prstGeom>
          <a:solidFill>
            <a:srgbClr val="FFFFFF"/>
          </a:solidFill>
          <a:ln w="12700">
            <a:solidFill>
              <a:srgbClr val="E4DED3"/>
            </a:solidFill>
            <a:prstDash val="solid"/>
          </a:ln>
        </p:spPr>
      </p:sp>
      <p:sp>
        <p:nvSpPr>
          <p:cNvPr id="15" name="Shape 13"/>
          <p:cNvSpPr/>
          <p:nvPr/>
        </p:nvSpPr>
        <p:spPr>
          <a:xfrm>
            <a:off x="8339328" y="1883664"/>
            <a:ext cx="438912" cy="438912"/>
          </a:xfrm>
          <a:prstGeom prst="ellipse">
            <a:avLst/>
          </a:prstGeom>
          <a:solidFill>
            <a:srgbClr val="2F9E44"/>
          </a:solidFill>
          <a:ln w="12700">
            <a:solidFill>
              <a:srgbClr val="2F9E44"/>
            </a:solidFill>
            <a:prstDash val="solid"/>
          </a:ln>
        </p:spPr>
      </p:sp>
      <p:sp>
        <p:nvSpPr>
          <p:cNvPr id="16" name="Text 14"/>
          <p:cNvSpPr/>
          <p:nvPr/>
        </p:nvSpPr>
        <p:spPr>
          <a:xfrm>
            <a:off x="8942832" y="1874520"/>
            <a:ext cx="1371600" cy="237744"/>
          </a:xfrm>
          <a:prstGeom prst="rect">
            <a:avLst/>
          </a:prstGeom>
          <a:noFill/>
          <a:ln/>
        </p:spPr>
        <p:txBody>
          <a:bodyPr wrap="square" lIns="0" tIns="0" rIns="0" bIns="0" rtlCol="0" anchor="ctr"/>
          <a:lstStyle/>
          <a:p>
            <a:pPr indent="0" marL="0">
              <a:buNone/>
            </a:pPr>
            <a:r>
              <a:rPr lang="en-US" sz="1500" b="1" dirty="0">
                <a:solidFill>
                  <a:srgbClr val="111111"/>
                </a:solidFill>
              </a:rPr>
              <a:t>连续</a:t>
            </a:r>
            <a:endParaRPr lang="en-US" sz="1500" dirty="0"/>
          </a:p>
        </p:txBody>
      </p:sp>
      <p:sp>
        <p:nvSpPr>
          <p:cNvPr id="17" name="Text 15"/>
          <p:cNvSpPr/>
          <p:nvPr/>
        </p:nvSpPr>
        <p:spPr>
          <a:xfrm>
            <a:off x="8942832" y="2286000"/>
            <a:ext cx="2057400" cy="411480"/>
          </a:xfrm>
          <a:prstGeom prst="rect">
            <a:avLst/>
          </a:prstGeom>
          <a:noFill/>
          <a:ln/>
        </p:spPr>
        <p:txBody>
          <a:bodyPr wrap="square" lIns="0" tIns="0" rIns="0" bIns="0" rtlCol="0" anchor="ctr">
            <a:normAutofit/>
          </a:bodyPr>
          <a:lstStyle/>
          <a:p>
            <a:pPr indent="0" marL="0">
              <a:buNone/>
            </a:pPr>
            <a:r>
              <a:rPr lang="en-US" sz="940" dirty="0">
                <a:solidFill>
                  <a:srgbClr val="1F2937"/>
                </a:solidFill>
              </a:rPr>
              <a:t>动作轨迹被剪辑成连续身体线条，强化运动的流动感。</a:t>
            </a:r>
            <a:endParaRPr lang="en-US" sz="940" dirty="0"/>
          </a:p>
        </p:txBody>
      </p:sp>
      <p:sp>
        <p:nvSpPr>
          <p:cNvPr id="18" name="Shape 16"/>
          <p:cNvSpPr/>
          <p:nvPr/>
        </p:nvSpPr>
        <p:spPr>
          <a:xfrm>
            <a:off x="658368" y="3621024"/>
            <a:ext cx="3273552" cy="1353312"/>
          </a:xfrm>
          <a:prstGeom prst="roundRect">
            <a:avLst>
              <a:gd name="adj" fmla="val 5405"/>
            </a:avLst>
          </a:prstGeom>
          <a:solidFill>
            <a:srgbClr val="FFFFFF"/>
          </a:solidFill>
          <a:ln w="12700">
            <a:solidFill>
              <a:srgbClr val="E4DED3"/>
            </a:solidFill>
            <a:prstDash val="solid"/>
          </a:ln>
        </p:spPr>
      </p:sp>
      <p:sp>
        <p:nvSpPr>
          <p:cNvPr id="19" name="Shape 17"/>
          <p:cNvSpPr/>
          <p:nvPr/>
        </p:nvSpPr>
        <p:spPr>
          <a:xfrm>
            <a:off x="877824" y="3877056"/>
            <a:ext cx="438912" cy="438912"/>
          </a:xfrm>
          <a:prstGeom prst="ellipse">
            <a:avLst/>
          </a:prstGeom>
          <a:solidFill>
            <a:srgbClr val="F7C948"/>
          </a:solidFill>
          <a:ln w="12700">
            <a:solidFill>
              <a:srgbClr val="F7C948"/>
            </a:solidFill>
            <a:prstDash val="solid"/>
          </a:ln>
        </p:spPr>
      </p:sp>
      <p:sp>
        <p:nvSpPr>
          <p:cNvPr id="20" name="Text 18"/>
          <p:cNvSpPr/>
          <p:nvPr/>
        </p:nvSpPr>
        <p:spPr>
          <a:xfrm>
            <a:off x="1481328" y="3867912"/>
            <a:ext cx="1371600" cy="237744"/>
          </a:xfrm>
          <a:prstGeom prst="rect">
            <a:avLst/>
          </a:prstGeom>
          <a:noFill/>
          <a:ln/>
        </p:spPr>
        <p:txBody>
          <a:bodyPr wrap="square" lIns="0" tIns="0" rIns="0" bIns="0" rtlCol="0" anchor="ctr"/>
          <a:lstStyle/>
          <a:p>
            <a:pPr indent="0" marL="0">
              <a:buNone/>
            </a:pPr>
            <a:r>
              <a:rPr lang="en-US" sz="1500" b="1" dirty="0">
                <a:solidFill>
                  <a:srgbClr val="111111"/>
                </a:solidFill>
              </a:rPr>
              <a:t>反差</a:t>
            </a:r>
            <a:endParaRPr lang="en-US" sz="1500" dirty="0"/>
          </a:p>
        </p:txBody>
      </p:sp>
      <p:sp>
        <p:nvSpPr>
          <p:cNvPr id="21" name="Text 19"/>
          <p:cNvSpPr/>
          <p:nvPr/>
        </p:nvSpPr>
        <p:spPr>
          <a:xfrm>
            <a:off x="1481328" y="4279392"/>
            <a:ext cx="2057400" cy="411480"/>
          </a:xfrm>
          <a:prstGeom prst="rect">
            <a:avLst/>
          </a:prstGeom>
          <a:noFill/>
          <a:ln/>
        </p:spPr>
        <p:txBody>
          <a:bodyPr wrap="square" lIns="0" tIns="0" rIns="0" bIns="0" rtlCol="0" anchor="ctr">
            <a:normAutofit/>
          </a:bodyPr>
          <a:lstStyle/>
          <a:p>
            <a:pPr indent="0" marL="0">
              <a:buNone/>
            </a:pPr>
            <a:r>
              <a:rPr lang="en-US" sz="940" dirty="0">
                <a:solidFill>
                  <a:srgbClr val="1F2937"/>
                </a:solidFill>
              </a:rPr>
              <a:t>肤色、性别、项目、年代与场景差异被保留，突出多样性。</a:t>
            </a:r>
            <a:endParaRPr lang="en-US" sz="940" dirty="0"/>
          </a:p>
        </p:txBody>
      </p:sp>
      <p:sp>
        <p:nvSpPr>
          <p:cNvPr id="22" name="Shape 20"/>
          <p:cNvSpPr/>
          <p:nvPr/>
        </p:nvSpPr>
        <p:spPr>
          <a:xfrm>
            <a:off x="4389120" y="3621024"/>
            <a:ext cx="3273552" cy="1353312"/>
          </a:xfrm>
          <a:prstGeom prst="roundRect">
            <a:avLst>
              <a:gd name="adj" fmla="val 5405"/>
            </a:avLst>
          </a:prstGeom>
          <a:solidFill>
            <a:srgbClr val="FFFFFF"/>
          </a:solidFill>
          <a:ln w="12700">
            <a:solidFill>
              <a:srgbClr val="E4DED3"/>
            </a:solidFill>
            <a:prstDash val="solid"/>
          </a:ln>
        </p:spPr>
      </p:sp>
      <p:sp>
        <p:nvSpPr>
          <p:cNvPr id="23" name="Shape 21"/>
          <p:cNvSpPr/>
          <p:nvPr/>
        </p:nvSpPr>
        <p:spPr>
          <a:xfrm>
            <a:off x="4608576" y="3877056"/>
            <a:ext cx="438912" cy="438912"/>
          </a:xfrm>
          <a:prstGeom prst="ellipse">
            <a:avLst/>
          </a:prstGeom>
          <a:solidFill>
            <a:srgbClr val="4DD0E1"/>
          </a:solidFill>
          <a:ln w="12700">
            <a:solidFill>
              <a:srgbClr val="4DD0E1"/>
            </a:solidFill>
            <a:prstDash val="solid"/>
          </a:ln>
        </p:spPr>
      </p:sp>
      <p:sp>
        <p:nvSpPr>
          <p:cNvPr id="24" name="Text 22"/>
          <p:cNvSpPr/>
          <p:nvPr/>
        </p:nvSpPr>
        <p:spPr>
          <a:xfrm>
            <a:off x="5212080" y="3867912"/>
            <a:ext cx="1371600" cy="237744"/>
          </a:xfrm>
          <a:prstGeom prst="rect">
            <a:avLst/>
          </a:prstGeom>
          <a:noFill/>
          <a:ln/>
        </p:spPr>
        <p:txBody>
          <a:bodyPr wrap="square" lIns="0" tIns="0" rIns="0" bIns="0" rtlCol="0" anchor="ctr"/>
          <a:lstStyle/>
          <a:p>
            <a:pPr indent="0" marL="0">
              <a:buNone/>
            </a:pPr>
            <a:r>
              <a:rPr lang="en-US" sz="1500" b="1" dirty="0">
                <a:solidFill>
                  <a:srgbClr val="111111"/>
                </a:solidFill>
              </a:rPr>
              <a:t>节奏</a:t>
            </a:r>
            <a:endParaRPr lang="en-US" sz="1500" dirty="0"/>
          </a:p>
        </p:txBody>
      </p:sp>
      <p:sp>
        <p:nvSpPr>
          <p:cNvPr id="25" name="Text 23"/>
          <p:cNvSpPr/>
          <p:nvPr/>
        </p:nvSpPr>
        <p:spPr>
          <a:xfrm>
            <a:off x="5212080" y="4279392"/>
            <a:ext cx="2057400" cy="411480"/>
          </a:xfrm>
          <a:prstGeom prst="rect">
            <a:avLst/>
          </a:prstGeom>
          <a:noFill/>
          <a:ln/>
        </p:spPr>
        <p:txBody>
          <a:bodyPr wrap="square" lIns="0" tIns="0" rIns="0" bIns="0" rtlCol="0" anchor="ctr">
            <a:normAutofit/>
          </a:bodyPr>
          <a:lstStyle/>
          <a:p>
            <a:pPr indent="0" marL="0">
              <a:buNone/>
            </a:pPr>
            <a:r>
              <a:rPr lang="en-US" sz="940" dirty="0">
                <a:solidFill>
                  <a:srgbClr val="1F2937"/>
                </a:solidFill>
              </a:rPr>
              <a:t>剪辑速度与音乐、旁白共同递进，形成广告短片的情绪曲线。</a:t>
            </a:r>
            <a:endParaRPr lang="en-US" sz="940" dirty="0"/>
          </a:p>
        </p:txBody>
      </p:sp>
      <p:sp>
        <p:nvSpPr>
          <p:cNvPr id="26" name="Shape 24"/>
          <p:cNvSpPr/>
          <p:nvPr/>
        </p:nvSpPr>
        <p:spPr>
          <a:xfrm>
            <a:off x="8119872" y="3621024"/>
            <a:ext cx="3273552" cy="1353312"/>
          </a:xfrm>
          <a:prstGeom prst="roundRect">
            <a:avLst>
              <a:gd name="adj" fmla="val 5405"/>
            </a:avLst>
          </a:prstGeom>
          <a:solidFill>
            <a:srgbClr val="FFFFFF"/>
          </a:solidFill>
          <a:ln w="12700">
            <a:solidFill>
              <a:srgbClr val="E4DED3"/>
            </a:solidFill>
            <a:prstDash val="solid"/>
          </a:ln>
        </p:spPr>
      </p:sp>
      <p:sp>
        <p:nvSpPr>
          <p:cNvPr id="27" name="Shape 25"/>
          <p:cNvSpPr/>
          <p:nvPr/>
        </p:nvSpPr>
        <p:spPr>
          <a:xfrm>
            <a:off x="8339328" y="3877056"/>
            <a:ext cx="438912" cy="438912"/>
          </a:xfrm>
          <a:prstGeom prst="ellipse">
            <a:avLst/>
          </a:prstGeom>
          <a:solidFill>
            <a:srgbClr val="9C36B5"/>
          </a:solidFill>
          <a:ln w="12700">
            <a:solidFill>
              <a:srgbClr val="9C36B5"/>
            </a:solidFill>
            <a:prstDash val="solid"/>
          </a:ln>
        </p:spPr>
      </p:sp>
      <p:sp>
        <p:nvSpPr>
          <p:cNvPr id="28" name="Text 26"/>
          <p:cNvSpPr/>
          <p:nvPr/>
        </p:nvSpPr>
        <p:spPr>
          <a:xfrm>
            <a:off x="8942832" y="3867912"/>
            <a:ext cx="1371600" cy="237744"/>
          </a:xfrm>
          <a:prstGeom prst="rect">
            <a:avLst/>
          </a:prstGeom>
          <a:noFill/>
          <a:ln/>
        </p:spPr>
        <p:txBody>
          <a:bodyPr wrap="square" lIns="0" tIns="0" rIns="0" bIns="0" rtlCol="0" anchor="ctr"/>
          <a:lstStyle/>
          <a:p>
            <a:pPr indent="0" marL="0">
              <a:buNone/>
            </a:pPr>
            <a:r>
              <a:rPr lang="en-US" sz="1500" b="1" dirty="0">
                <a:solidFill>
                  <a:srgbClr val="111111"/>
                </a:solidFill>
              </a:rPr>
              <a:t>符号</a:t>
            </a:r>
            <a:endParaRPr lang="en-US" sz="1500" dirty="0"/>
          </a:p>
        </p:txBody>
      </p:sp>
      <p:sp>
        <p:nvSpPr>
          <p:cNvPr id="29" name="Text 27"/>
          <p:cNvSpPr/>
          <p:nvPr/>
        </p:nvSpPr>
        <p:spPr>
          <a:xfrm>
            <a:off x="8942832" y="4279392"/>
            <a:ext cx="2057400" cy="411480"/>
          </a:xfrm>
          <a:prstGeom prst="rect">
            <a:avLst/>
          </a:prstGeom>
          <a:noFill/>
          <a:ln/>
        </p:spPr>
        <p:txBody>
          <a:bodyPr wrap="square" lIns="0" tIns="0" rIns="0" bIns="0" rtlCol="0" anchor="ctr">
            <a:normAutofit/>
          </a:bodyPr>
          <a:lstStyle/>
          <a:p>
            <a:pPr indent="0" marL="0">
              <a:buNone/>
            </a:pPr>
            <a:r>
              <a:rPr lang="en-US" sz="940" dirty="0">
                <a:solidFill>
                  <a:srgbClr val="1F2937"/>
                </a:solidFill>
              </a:rPr>
              <a:t>体育动作被转化为“不停止”的象征，而非单纯比赛记录。</a:t>
            </a:r>
            <a:endParaRPr lang="en-US" sz="940" dirty="0"/>
          </a:p>
        </p:txBody>
      </p:sp>
      <p:sp>
        <p:nvSpPr>
          <p:cNvPr id="30" name="Text 28"/>
          <p:cNvSpPr/>
          <p:nvPr/>
        </p:nvSpPr>
        <p:spPr>
          <a:xfrm>
            <a:off x="1261872" y="5806440"/>
            <a:ext cx="9555480" cy="320040"/>
          </a:xfrm>
          <a:prstGeom prst="rect">
            <a:avLst/>
          </a:prstGeom>
          <a:noFill/>
          <a:ln/>
        </p:spPr>
        <p:txBody>
          <a:bodyPr wrap="square" lIns="0" tIns="0" rIns="0" bIns="0" rtlCol="0" anchor="ctr"/>
          <a:lstStyle/>
          <a:p>
            <a:pPr algn="ctr" indent="0" marL="0">
              <a:buNone/>
            </a:pPr>
            <a:r>
              <a:rPr lang="en-US" sz="1500" b="1" dirty="0">
                <a:solidFill>
                  <a:srgbClr val="E93D35"/>
                </a:solidFill>
              </a:rPr>
              <a:t>它的核心影像语言是：用形式上的“一分为二”，表达意义上的“合二为一”。</a:t>
            </a:r>
            <a:endParaRPr lang="en-US" sz="1500" dirty="0"/>
          </a:p>
        </p:txBody>
      </p:sp>
      <p:sp>
        <p:nvSpPr>
          <p:cNvPr id="31" name="Text 29"/>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09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41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1418"/>
          </a:solidFill>
          <a:ln w="12700">
            <a:solidFill>
              <a:srgbClr val="101418"/>
            </a:solidFill>
            <a:prstDash val="solid"/>
          </a:ln>
        </p:spPr>
      </p:sp>
      <p:sp>
        <p:nvSpPr>
          <p:cNvPr id="3" name="Shape 1"/>
          <p:cNvSpPr/>
          <p:nvPr/>
        </p:nvSpPr>
        <p:spPr>
          <a:xfrm>
            <a:off x="0" y="0"/>
            <a:ext cx="12191695" cy="6858000"/>
          </a:xfrm>
          <a:prstGeom prst="rect">
            <a:avLst/>
          </a:prstGeom>
          <a:solidFill>
            <a:srgbClr val="101418"/>
          </a:solidFill>
          <a:ln w="12700">
            <a:solidFill>
              <a:srgbClr val="101418"/>
            </a:solidFill>
            <a:prstDash val="solid"/>
          </a:ln>
        </p:spPr>
      </p:sp>
      <p:sp>
        <p:nvSpPr>
          <p:cNvPr id="4" name="Text 2"/>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4DD0E1"/>
                </a:solidFill>
                <a:latin typeface="PingFang SC" pitchFamily="34" charset="0"/>
                <a:ea typeface="PingFang SC" pitchFamily="34" charset="-122"/>
                <a:cs typeface="PingFang SC" pitchFamily="34" charset="-120"/>
              </a:rPr>
              <a:t>AESTHETIC FEATURES</a:t>
            </a:r>
            <a:endParaRPr lang="en-US" sz="850" dirty="0"/>
          </a:p>
        </p:txBody>
      </p:sp>
      <p:sp>
        <p:nvSpPr>
          <p:cNvPr id="5" name="Text 3"/>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PingFang SC" pitchFamily="34" charset="0"/>
                <a:ea typeface="PingFang SC" pitchFamily="34" charset="-122"/>
                <a:cs typeface="PingFang SC" pitchFamily="34" charset="-120"/>
              </a:rPr>
              <a:t>审美特点：商业影像中的公共情绪</a:t>
            </a:r>
            <a:endParaRPr lang="en-US" sz="2500" dirty="0"/>
          </a:p>
        </p:txBody>
      </p:sp>
      <p:sp>
        <p:nvSpPr>
          <p:cNvPr id="6" name="Shape 4"/>
          <p:cNvSpPr/>
          <p:nvPr/>
        </p:nvSpPr>
        <p:spPr>
          <a:xfrm>
            <a:off x="594360" y="1243584"/>
            <a:ext cx="10972800" cy="0"/>
          </a:xfrm>
          <a:prstGeom prst="line">
            <a:avLst/>
          </a:prstGeom>
          <a:noFill/>
          <a:ln w="12700">
            <a:solidFill>
              <a:srgbClr val="FFFFFF">
                <a:alpha val="30000"/>
              </a:srgbClr>
            </a:solidFill>
            <a:prstDash val="solid"/>
          </a:ln>
        </p:spPr>
      </p:sp>
      <p:sp>
        <p:nvSpPr>
          <p:cNvPr id="7" name="Shape 5"/>
          <p:cNvSpPr/>
          <p:nvPr/>
        </p:nvSpPr>
        <p:spPr>
          <a:xfrm>
            <a:off x="594360" y="1600200"/>
            <a:ext cx="2171700" cy="3200400"/>
          </a:xfrm>
          <a:prstGeom prst="rect">
            <a:avLst/>
          </a:prstGeom>
          <a:solidFill>
            <a:srgbClr val="B91C1C"/>
          </a:solidFill>
          <a:ln w="12700">
            <a:solidFill>
              <a:srgbClr val="B91C1C"/>
            </a:solidFill>
            <a:prstDash val="solid"/>
          </a:ln>
        </p:spPr>
      </p:sp>
      <p:sp>
        <p:nvSpPr>
          <p:cNvPr id="8" name="Shape 6"/>
          <p:cNvSpPr/>
          <p:nvPr/>
        </p:nvSpPr>
        <p:spPr>
          <a:xfrm>
            <a:off x="2766060" y="1600200"/>
            <a:ext cx="2171700" cy="3200400"/>
          </a:xfrm>
          <a:prstGeom prst="rect">
            <a:avLst/>
          </a:prstGeom>
          <a:solidFill>
            <a:srgbClr val="075985"/>
          </a:solidFill>
          <a:ln w="12700">
            <a:solidFill>
              <a:srgbClr val="075985"/>
            </a:solidFill>
            <a:prstDash val="solid"/>
          </a:ln>
        </p:spPr>
      </p:sp>
      <p:sp>
        <p:nvSpPr>
          <p:cNvPr id="9" name="Shape 7"/>
          <p:cNvSpPr/>
          <p:nvPr/>
        </p:nvSpPr>
        <p:spPr>
          <a:xfrm>
            <a:off x="2766060" y="1600200"/>
            <a:ext cx="0" cy="3200400"/>
          </a:xfrm>
          <a:prstGeom prst="line">
            <a:avLst/>
          </a:prstGeom>
          <a:noFill/>
          <a:ln w="27940">
            <a:solidFill>
              <a:srgbClr val="FFFFFF">
                <a:alpha val="92000"/>
              </a:srgbClr>
            </a:solidFill>
            <a:prstDash val="solid"/>
          </a:ln>
        </p:spPr>
      </p:sp>
      <p:sp>
        <p:nvSpPr>
          <p:cNvPr id="10" name="Shape 8"/>
          <p:cNvSpPr/>
          <p:nvPr/>
        </p:nvSpPr>
        <p:spPr>
          <a:xfrm>
            <a:off x="1245870" y="2496312"/>
            <a:ext cx="1389888" cy="1600200"/>
          </a:xfrm>
          <a:prstGeom prst="arc">
            <a:avLst/>
          </a:prstGeom>
          <a:solidFill>
            <a:srgbClr val="B91C1C">
              <a:alpha val="0"/>
            </a:srgbClr>
          </a:solidFill>
          <a:ln w="50800">
            <a:solidFill>
              <a:srgbClr val="FFFFFF">
                <a:alpha val="96000"/>
              </a:srgbClr>
            </a:solidFill>
            <a:prstDash val="solid"/>
          </a:ln>
        </p:spPr>
      </p:sp>
      <p:sp>
        <p:nvSpPr>
          <p:cNvPr id="11" name="Shape 9"/>
          <p:cNvSpPr/>
          <p:nvPr/>
        </p:nvSpPr>
        <p:spPr>
          <a:xfrm>
            <a:off x="2896362" y="2368296"/>
            <a:ext cx="1303020" cy="1664208"/>
          </a:xfrm>
          <a:prstGeom prst="arc">
            <a:avLst/>
          </a:prstGeom>
          <a:solidFill>
            <a:srgbClr val="075985">
              <a:alpha val="0"/>
            </a:srgbClr>
          </a:solidFill>
          <a:ln w="50800">
            <a:solidFill>
              <a:srgbClr val="FFFFFF">
                <a:alpha val="96000"/>
              </a:srgbClr>
            </a:solidFill>
            <a:prstDash val="solid"/>
          </a:ln>
        </p:spPr>
      </p:sp>
      <p:sp>
        <p:nvSpPr>
          <p:cNvPr id="12" name="Shape 10"/>
          <p:cNvSpPr/>
          <p:nvPr/>
        </p:nvSpPr>
        <p:spPr>
          <a:xfrm>
            <a:off x="2331720" y="2304288"/>
            <a:ext cx="256032" cy="256032"/>
          </a:xfrm>
          <a:prstGeom prst="ellipse">
            <a:avLst/>
          </a:prstGeom>
          <a:solidFill>
            <a:srgbClr val="FFFFFF"/>
          </a:solidFill>
          <a:ln w="12700">
            <a:solidFill>
              <a:srgbClr val="FFFFFF"/>
            </a:solidFill>
            <a:prstDash val="solid"/>
          </a:ln>
        </p:spPr>
      </p:sp>
      <p:sp>
        <p:nvSpPr>
          <p:cNvPr id="13" name="Shape 11"/>
          <p:cNvSpPr/>
          <p:nvPr/>
        </p:nvSpPr>
        <p:spPr>
          <a:xfrm>
            <a:off x="2896362" y="2208276"/>
            <a:ext cx="256032" cy="256032"/>
          </a:xfrm>
          <a:prstGeom prst="ellipse">
            <a:avLst/>
          </a:prstGeom>
          <a:solidFill>
            <a:srgbClr val="FFFFFF"/>
          </a:solidFill>
          <a:ln w="12700">
            <a:solidFill>
              <a:srgbClr val="FFFFFF"/>
            </a:solidFill>
            <a:prstDash val="solid"/>
          </a:ln>
        </p:spPr>
      </p:sp>
      <p:sp>
        <p:nvSpPr>
          <p:cNvPr id="14" name="Shape 12"/>
          <p:cNvSpPr/>
          <p:nvPr/>
        </p:nvSpPr>
        <p:spPr>
          <a:xfrm>
            <a:off x="822960" y="4471416"/>
            <a:ext cx="320040" cy="0"/>
          </a:xfrm>
          <a:prstGeom prst="line">
            <a:avLst/>
          </a:prstGeom>
          <a:noFill/>
          <a:ln w="12700">
            <a:solidFill>
              <a:srgbClr val="FFFFFF">
                <a:alpha val="60000"/>
              </a:srgbClr>
            </a:solidFill>
            <a:prstDash val="solid"/>
          </a:ln>
        </p:spPr>
      </p:sp>
      <p:sp>
        <p:nvSpPr>
          <p:cNvPr id="15" name="Shape 13"/>
          <p:cNvSpPr/>
          <p:nvPr/>
        </p:nvSpPr>
        <p:spPr>
          <a:xfrm>
            <a:off x="1378131" y="4398264"/>
            <a:ext cx="320040" cy="0"/>
          </a:xfrm>
          <a:prstGeom prst="line">
            <a:avLst/>
          </a:prstGeom>
          <a:noFill/>
          <a:ln w="12700">
            <a:solidFill>
              <a:srgbClr val="FFFFFF">
                <a:alpha val="60000"/>
              </a:srgbClr>
            </a:solidFill>
            <a:prstDash val="solid"/>
          </a:ln>
        </p:spPr>
      </p:sp>
      <p:sp>
        <p:nvSpPr>
          <p:cNvPr id="16" name="Shape 14"/>
          <p:cNvSpPr/>
          <p:nvPr/>
        </p:nvSpPr>
        <p:spPr>
          <a:xfrm>
            <a:off x="1933303" y="4471416"/>
            <a:ext cx="320040" cy="0"/>
          </a:xfrm>
          <a:prstGeom prst="line">
            <a:avLst/>
          </a:prstGeom>
          <a:noFill/>
          <a:ln w="12700">
            <a:solidFill>
              <a:srgbClr val="FFFFFF">
                <a:alpha val="60000"/>
              </a:srgbClr>
            </a:solidFill>
            <a:prstDash val="solid"/>
          </a:ln>
        </p:spPr>
      </p:sp>
      <p:sp>
        <p:nvSpPr>
          <p:cNvPr id="17" name="Shape 15"/>
          <p:cNvSpPr/>
          <p:nvPr/>
        </p:nvSpPr>
        <p:spPr>
          <a:xfrm>
            <a:off x="2488474" y="4398264"/>
            <a:ext cx="320040" cy="0"/>
          </a:xfrm>
          <a:prstGeom prst="line">
            <a:avLst/>
          </a:prstGeom>
          <a:noFill/>
          <a:ln w="12700">
            <a:solidFill>
              <a:srgbClr val="FFFFFF">
                <a:alpha val="60000"/>
              </a:srgbClr>
            </a:solidFill>
            <a:prstDash val="solid"/>
          </a:ln>
        </p:spPr>
      </p:sp>
      <p:sp>
        <p:nvSpPr>
          <p:cNvPr id="18" name="Shape 16"/>
          <p:cNvSpPr/>
          <p:nvPr/>
        </p:nvSpPr>
        <p:spPr>
          <a:xfrm>
            <a:off x="3043646" y="4471416"/>
            <a:ext cx="320040" cy="0"/>
          </a:xfrm>
          <a:prstGeom prst="line">
            <a:avLst/>
          </a:prstGeom>
          <a:noFill/>
          <a:ln w="12700">
            <a:solidFill>
              <a:srgbClr val="FFFFFF">
                <a:alpha val="60000"/>
              </a:srgbClr>
            </a:solidFill>
            <a:prstDash val="solid"/>
          </a:ln>
        </p:spPr>
      </p:sp>
      <p:sp>
        <p:nvSpPr>
          <p:cNvPr id="19" name="Shape 17"/>
          <p:cNvSpPr/>
          <p:nvPr/>
        </p:nvSpPr>
        <p:spPr>
          <a:xfrm>
            <a:off x="3598817" y="4398264"/>
            <a:ext cx="320040" cy="0"/>
          </a:xfrm>
          <a:prstGeom prst="line">
            <a:avLst/>
          </a:prstGeom>
          <a:noFill/>
          <a:ln w="12700">
            <a:solidFill>
              <a:srgbClr val="FFFFFF">
                <a:alpha val="60000"/>
              </a:srgbClr>
            </a:solidFill>
            <a:prstDash val="solid"/>
          </a:ln>
        </p:spPr>
      </p:sp>
      <p:sp>
        <p:nvSpPr>
          <p:cNvPr id="20" name="Shape 18"/>
          <p:cNvSpPr/>
          <p:nvPr/>
        </p:nvSpPr>
        <p:spPr>
          <a:xfrm>
            <a:off x="4153989" y="4471416"/>
            <a:ext cx="320040" cy="0"/>
          </a:xfrm>
          <a:prstGeom prst="line">
            <a:avLst/>
          </a:prstGeom>
          <a:noFill/>
          <a:ln w="12700">
            <a:solidFill>
              <a:srgbClr val="FFFFFF">
                <a:alpha val="60000"/>
              </a:srgbClr>
            </a:solidFill>
            <a:prstDash val="solid"/>
          </a:ln>
        </p:spPr>
      </p:sp>
      <p:sp>
        <p:nvSpPr>
          <p:cNvPr id="21" name="Shape 19"/>
          <p:cNvSpPr/>
          <p:nvPr/>
        </p:nvSpPr>
        <p:spPr>
          <a:xfrm>
            <a:off x="4709160" y="4398264"/>
            <a:ext cx="320040" cy="0"/>
          </a:xfrm>
          <a:prstGeom prst="line">
            <a:avLst/>
          </a:prstGeom>
          <a:noFill/>
          <a:ln w="12700">
            <a:solidFill>
              <a:srgbClr val="FFFFFF">
                <a:alpha val="60000"/>
              </a:srgbClr>
            </a:solidFill>
            <a:prstDash val="solid"/>
          </a:ln>
        </p:spPr>
      </p:sp>
      <p:sp>
        <p:nvSpPr>
          <p:cNvPr id="22" name="Text 20"/>
          <p:cNvSpPr/>
          <p:nvPr/>
        </p:nvSpPr>
        <p:spPr>
          <a:xfrm>
            <a:off x="5623560" y="1609344"/>
            <a:ext cx="1874520" cy="228600"/>
          </a:xfrm>
          <a:prstGeom prst="rect">
            <a:avLst/>
          </a:prstGeom>
          <a:noFill/>
          <a:ln/>
        </p:spPr>
        <p:txBody>
          <a:bodyPr wrap="square" lIns="0" tIns="0" rIns="0" bIns="0" rtlCol="0" anchor="ctr"/>
          <a:lstStyle/>
          <a:p>
            <a:pPr indent="0" marL="0">
              <a:buNone/>
            </a:pPr>
            <a:r>
              <a:rPr lang="en-US" sz="1350" b="1" dirty="0">
                <a:solidFill>
                  <a:srgbClr val="E93D35"/>
                </a:solidFill>
              </a:rPr>
              <a:t>统一中的多样</a:t>
            </a:r>
            <a:endParaRPr lang="en-US" sz="1350" dirty="0"/>
          </a:p>
        </p:txBody>
      </p:sp>
      <p:sp>
        <p:nvSpPr>
          <p:cNvPr id="23" name="Text 21"/>
          <p:cNvSpPr/>
          <p:nvPr/>
        </p:nvSpPr>
        <p:spPr>
          <a:xfrm>
            <a:off x="7543800" y="1591056"/>
            <a:ext cx="3383280" cy="320040"/>
          </a:xfrm>
          <a:prstGeom prst="rect">
            <a:avLst/>
          </a:prstGeom>
          <a:noFill/>
          <a:ln/>
        </p:spPr>
        <p:txBody>
          <a:bodyPr wrap="square" lIns="0" tIns="0" rIns="0" bIns="0" rtlCol="0" anchor="ctr">
            <a:normAutofit/>
          </a:bodyPr>
          <a:lstStyle/>
          <a:p>
            <a:pPr indent="0" marL="0">
              <a:buNone/>
            </a:pPr>
            <a:r>
              <a:rPr lang="en-US" sz="1050" dirty="0">
                <a:solidFill>
                  <a:srgbClr val="E5E7EB"/>
                </a:solidFill>
              </a:rPr>
              <a:t>画面保留差异，但通过统一运动节奏形成共同体。</a:t>
            </a:r>
            <a:endParaRPr lang="en-US" sz="1050" dirty="0"/>
          </a:p>
        </p:txBody>
      </p:sp>
      <p:sp>
        <p:nvSpPr>
          <p:cNvPr id="24" name="Text 22"/>
          <p:cNvSpPr/>
          <p:nvPr/>
        </p:nvSpPr>
        <p:spPr>
          <a:xfrm>
            <a:off x="5623560" y="2468880"/>
            <a:ext cx="1874520" cy="228600"/>
          </a:xfrm>
          <a:prstGeom prst="rect">
            <a:avLst/>
          </a:prstGeom>
          <a:noFill/>
          <a:ln/>
        </p:spPr>
        <p:txBody>
          <a:bodyPr wrap="square" lIns="0" tIns="0" rIns="0" bIns="0" rtlCol="0" anchor="ctr"/>
          <a:lstStyle/>
          <a:p>
            <a:pPr indent="0" marL="0">
              <a:buNone/>
            </a:pPr>
            <a:r>
              <a:rPr lang="en-US" sz="1350" b="1" dirty="0">
                <a:solidFill>
                  <a:srgbClr val="4DD0E1"/>
                </a:solidFill>
              </a:rPr>
              <a:t>纪实中的设计</a:t>
            </a:r>
            <a:endParaRPr lang="en-US" sz="1350" dirty="0"/>
          </a:p>
        </p:txBody>
      </p:sp>
      <p:sp>
        <p:nvSpPr>
          <p:cNvPr id="25" name="Text 23"/>
          <p:cNvSpPr/>
          <p:nvPr/>
        </p:nvSpPr>
        <p:spPr>
          <a:xfrm>
            <a:off x="7543800" y="2450592"/>
            <a:ext cx="3383280" cy="320040"/>
          </a:xfrm>
          <a:prstGeom prst="rect">
            <a:avLst/>
          </a:prstGeom>
          <a:noFill/>
          <a:ln/>
        </p:spPr>
        <p:txBody>
          <a:bodyPr wrap="square" lIns="0" tIns="0" rIns="0" bIns="0" rtlCol="0" anchor="ctr">
            <a:normAutofit/>
          </a:bodyPr>
          <a:lstStyle/>
          <a:p>
            <a:pPr indent="0" marL="0">
              <a:buNone/>
            </a:pPr>
            <a:r>
              <a:rPr lang="en-US" sz="1050" dirty="0">
                <a:solidFill>
                  <a:srgbClr val="E5E7EB"/>
                </a:solidFill>
              </a:rPr>
              <a:t>素材带有真实赛事质感，分屏拼接又高度人工设计。</a:t>
            </a:r>
            <a:endParaRPr lang="en-US" sz="1050" dirty="0"/>
          </a:p>
        </p:txBody>
      </p:sp>
      <p:sp>
        <p:nvSpPr>
          <p:cNvPr id="26" name="Text 24"/>
          <p:cNvSpPr/>
          <p:nvPr/>
        </p:nvSpPr>
        <p:spPr>
          <a:xfrm>
            <a:off x="5623560" y="3328416"/>
            <a:ext cx="1874520" cy="228600"/>
          </a:xfrm>
          <a:prstGeom prst="rect">
            <a:avLst/>
          </a:prstGeom>
          <a:noFill/>
          <a:ln/>
        </p:spPr>
        <p:txBody>
          <a:bodyPr wrap="square" lIns="0" tIns="0" rIns="0" bIns="0" rtlCol="0" anchor="ctr"/>
          <a:lstStyle/>
          <a:p>
            <a:pPr indent="0" marL="0">
              <a:buNone/>
            </a:pPr>
            <a:r>
              <a:rPr lang="en-US" sz="1350" b="1" dirty="0">
                <a:solidFill>
                  <a:srgbClr val="F7C948"/>
                </a:solidFill>
              </a:rPr>
              <a:t>热血中的克制</a:t>
            </a:r>
            <a:endParaRPr lang="en-US" sz="1350" dirty="0"/>
          </a:p>
        </p:txBody>
      </p:sp>
      <p:sp>
        <p:nvSpPr>
          <p:cNvPr id="27" name="Text 25"/>
          <p:cNvSpPr/>
          <p:nvPr/>
        </p:nvSpPr>
        <p:spPr>
          <a:xfrm>
            <a:off x="7543800" y="3310128"/>
            <a:ext cx="3383280" cy="320040"/>
          </a:xfrm>
          <a:prstGeom prst="rect">
            <a:avLst/>
          </a:prstGeom>
          <a:noFill/>
          <a:ln/>
        </p:spPr>
        <p:txBody>
          <a:bodyPr wrap="square" lIns="0" tIns="0" rIns="0" bIns="0" rtlCol="0" anchor="ctr">
            <a:normAutofit/>
          </a:bodyPr>
          <a:lstStyle/>
          <a:p>
            <a:pPr indent="0" marL="0">
              <a:buNone/>
            </a:pPr>
            <a:r>
              <a:rPr lang="en-US" sz="1050" dirty="0">
                <a:solidFill>
                  <a:srgbClr val="E5E7EB"/>
                </a:solidFill>
              </a:rPr>
              <a:t>没有过度煽情台词，而以精准剪辑让情绪自然累积。</a:t>
            </a:r>
            <a:endParaRPr lang="en-US" sz="1050" dirty="0"/>
          </a:p>
        </p:txBody>
      </p:sp>
      <p:sp>
        <p:nvSpPr>
          <p:cNvPr id="28" name="Text 26"/>
          <p:cNvSpPr/>
          <p:nvPr/>
        </p:nvSpPr>
        <p:spPr>
          <a:xfrm>
            <a:off x="5623560" y="4187952"/>
            <a:ext cx="1874520" cy="228600"/>
          </a:xfrm>
          <a:prstGeom prst="rect">
            <a:avLst/>
          </a:prstGeom>
          <a:noFill/>
          <a:ln/>
        </p:spPr>
        <p:txBody>
          <a:bodyPr wrap="square" lIns="0" tIns="0" rIns="0" bIns="0" rtlCol="0" anchor="ctr"/>
          <a:lstStyle/>
          <a:p>
            <a:pPr indent="0" marL="0">
              <a:buNone/>
            </a:pPr>
            <a:r>
              <a:rPr lang="en-US" sz="1350" b="1" dirty="0">
                <a:solidFill>
                  <a:srgbClr val="2F9E44"/>
                </a:solidFill>
              </a:rPr>
              <a:t>品牌中的公共性</a:t>
            </a:r>
            <a:endParaRPr lang="en-US" sz="1350" dirty="0"/>
          </a:p>
        </p:txBody>
      </p:sp>
      <p:sp>
        <p:nvSpPr>
          <p:cNvPr id="29" name="Text 27"/>
          <p:cNvSpPr/>
          <p:nvPr/>
        </p:nvSpPr>
        <p:spPr>
          <a:xfrm>
            <a:off x="7543800" y="4169664"/>
            <a:ext cx="3383280" cy="320040"/>
          </a:xfrm>
          <a:prstGeom prst="rect">
            <a:avLst/>
          </a:prstGeom>
          <a:noFill/>
          <a:ln/>
        </p:spPr>
        <p:txBody>
          <a:bodyPr wrap="square" lIns="0" tIns="0" rIns="0" bIns="0" rtlCol="0" anchor="ctr">
            <a:normAutofit/>
          </a:bodyPr>
          <a:lstStyle/>
          <a:p>
            <a:pPr indent="0" marL="0">
              <a:buNone/>
            </a:pPr>
            <a:r>
              <a:rPr lang="en-US" sz="1050" dirty="0">
                <a:solidFill>
                  <a:srgbClr val="E5E7EB"/>
                </a:solidFill>
              </a:rPr>
              <a:t>广告目的被隐藏在更广泛的社会情绪与体育精神里。</a:t>
            </a:r>
            <a:endParaRPr lang="en-US" sz="1050" dirty="0"/>
          </a:p>
        </p:txBody>
      </p:sp>
      <p:sp>
        <p:nvSpPr>
          <p:cNvPr id="30" name="Text 28"/>
          <p:cNvSpPr/>
          <p:nvPr/>
        </p:nvSpPr>
        <p:spPr>
          <a:xfrm>
            <a:off x="1005840" y="5742432"/>
            <a:ext cx="10241280" cy="310896"/>
          </a:xfrm>
          <a:prstGeom prst="rect">
            <a:avLst/>
          </a:prstGeom>
          <a:noFill/>
          <a:ln/>
        </p:spPr>
        <p:txBody>
          <a:bodyPr wrap="square" lIns="0" tIns="0" rIns="0" bIns="0" rtlCol="0" anchor="ctr"/>
          <a:lstStyle/>
          <a:p>
            <a:pPr algn="ctr" indent="0" marL="0">
              <a:buNone/>
            </a:pPr>
            <a:r>
              <a:rPr lang="en-US" sz="1400" b="1" dirty="0">
                <a:solidFill>
                  <a:srgbClr val="FFFFFF"/>
                </a:solidFill>
              </a:rPr>
              <a:t>审美价值在于：它让观众先被画面的巧妙结构吸引，再被结构背后的共同情感说服。</a:t>
            </a:r>
            <a:endParaRPr lang="en-US" sz="1400" dirty="0"/>
          </a:p>
        </p:txBody>
      </p:sp>
      <p:sp>
        <p:nvSpPr>
          <p:cNvPr id="31" name="Text 29"/>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D1D5DB"/>
                </a:solidFill>
              </a:rPr>
              <a:t>综合影像实践 · 调研报告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F"/>
          </a:solidFill>
          <a:ln w="12700">
            <a:solidFill>
              <a:srgbClr val="F7F4EF"/>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MY VIEW</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个人评价与启示</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Text 4"/>
          <p:cNvSpPr/>
          <p:nvPr/>
        </p:nvSpPr>
        <p:spPr>
          <a:xfrm>
            <a:off x="822960" y="1645920"/>
            <a:ext cx="10424160" cy="502920"/>
          </a:xfrm>
          <a:prstGeom prst="rect">
            <a:avLst/>
          </a:prstGeom>
          <a:noFill/>
          <a:ln/>
        </p:spPr>
        <p:txBody>
          <a:bodyPr wrap="square" lIns="0" tIns="0" rIns="0" bIns="0" rtlCol="0" anchor="ctr">
            <a:normAutofit/>
          </a:bodyPr>
          <a:lstStyle/>
          <a:p>
            <a:pPr algn="ctr" indent="0" marL="0">
              <a:buNone/>
            </a:pPr>
            <a:r>
              <a:rPr lang="en-US" sz="1900" b="1" dirty="0">
                <a:solidFill>
                  <a:srgbClr val="111111"/>
                </a:solidFill>
              </a:rPr>
              <a:t>《You Can’t Stop Us》的成功不只在于“剪得炫”，而在于它把技术形式变成了主题本身。</a:t>
            </a:r>
            <a:endParaRPr lang="en-US" sz="1900" dirty="0"/>
          </a:p>
        </p:txBody>
      </p:sp>
      <p:sp>
        <p:nvSpPr>
          <p:cNvPr id="7" name="Shape 5"/>
          <p:cNvSpPr/>
          <p:nvPr/>
        </p:nvSpPr>
        <p:spPr>
          <a:xfrm>
            <a:off x="1051560" y="2761488"/>
            <a:ext cx="2834640" cy="2057400"/>
          </a:xfrm>
          <a:prstGeom prst="roundRect">
            <a:avLst>
              <a:gd name="adj" fmla="val 3556"/>
            </a:avLst>
          </a:prstGeom>
          <a:solidFill>
            <a:srgbClr val="FFFFFF"/>
          </a:solidFill>
          <a:ln w="12700">
            <a:solidFill>
              <a:srgbClr val="E4DED3"/>
            </a:solidFill>
            <a:prstDash val="solid"/>
          </a:ln>
        </p:spPr>
      </p:sp>
      <p:sp>
        <p:nvSpPr>
          <p:cNvPr id="8" name="Text 6"/>
          <p:cNvSpPr/>
          <p:nvPr/>
        </p:nvSpPr>
        <p:spPr>
          <a:xfrm>
            <a:off x="1280160" y="2999232"/>
            <a:ext cx="384048" cy="256032"/>
          </a:xfrm>
          <a:prstGeom prst="rect">
            <a:avLst/>
          </a:prstGeom>
          <a:noFill/>
          <a:ln/>
        </p:spPr>
        <p:txBody>
          <a:bodyPr wrap="square" lIns="0" tIns="0" rIns="0" bIns="0" rtlCol="0" anchor="ctr"/>
          <a:lstStyle/>
          <a:p>
            <a:pPr indent="0" marL="0">
              <a:buNone/>
            </a:pPr>
            <a:r>
              <a:rPr lang="en-US" sz="1600" b="1" dirty="0">
                <a:solidFill>
                  <a:srgbClr val="E93D35"/>
                </a:solidFill>
              </a:rPr>
              <a:t>1</a:t>
            </a:r>
            <a:endParaRPr lang="en-US" sz="1600" dirty="0"/>
          </a:p>
        </p:txBody>
      </p:sp>
      <p:sp>
        <p:nvSpPr>
          <p:cNvPr id="9" name="Text 7"/>
          <p:cNvSpPr/>
          <p:nvPr/>
        </p:nvSpPr>
        <p:spPr>
          <a:xfrm>
            <a:off x="1801368" y="3017520"/>
            <a:ext cx="1737360" cy="256032"/>
          </a:xfrm>
          <a:prstGeom prst="rect">
            <a:avLst/>
          </a:prstGeom>
          <a:noFill/>
          <a:ln/>
        </p:spPr>
        <p:txBody>
          <a:bodyPr wrap="square" lIns="0" tIns="0" rIns="0" bIns="0" rtlCol="0" anchor="ctr"/>
          <a:lstStyle/>
          <a:p>
            <a:pPr indent="0" marL="0">
              <a:buNone/>
            </a:pPr>
            <a:r>
              <a:rPr lang="en-US" sz="1300" b="1" dirty="0">
                <a:solidFill>
                  <a:srgbClr val="111111"/>
                </a:solidFill>
              </a:rPr>
              <a:t>形式服务主题</a:t>
            </a:r>
            <a:endParaRPr lang="en-US" sz="1300" dirty="0"/>
          </a:p>
        </p:txBody>
      </p:sp>
      <p:sp>
        <p:nvSpPr>
          <p:cNvPr id="10" name="Text 8"/>
          <p:cNvSpPr/>
          <p:nvPr/>
        </p:nvSpPr>
        <p:spPr>
          <a:xfrm>
            <a:off x="1344168" y="3611880"/>
            <a:ext cx="2240280" cy="658368"/>
          </a:xfrm>
          <a:prstGeom prst="rect">
            <a:avLst/>
          </a:prstGeom>
          <a:noFill/>
          <a:ln/>
        </p:spPr>
        <p:txBody>
          <a:bodyPr wrap="square" lIns="0" tIns="0" rIns="0" bIns="0" rtlCol="0" anchor="ctr">
            <a:normAutofit/>
          </a:bodyPr>
          <a:lstStyle/>
          <a:p>
            <a:pPr algn="ctr" indent="0" marL="0">
              <a:buNone/>
            </a:pPr>
            <a:r>
              <a:rPr lang="en-US" sz="1020" dirty="0">
                <a:solidFill>
                  <a:srgbClr val="1F2937"/>
                </a:solidFill>
              </a:rPr>
              <a:t>分屏不只是视觉特效，而是“分离中仍连接”的主题隐喻。</a:t>
            </a:r>
            <a:endParaRPr lang="en-US" sz="1020" dirty="0"/>
          </a:p>
        </p:txBody>
      </p:sp>
      <p:sp>
        <p:nvSpPr>
          <p:cNvPr id="11" name="Shape 9"/>
          <p:cNvSpPr/>
          <p:nvPr/>
        </p:nvSpPr>
        <p:spPr>
          <a:xfrm>
            <a:off x="4480560" y="2761488"/>
            <a:ext cx="2834640" cy="2057400"/>
          </a:xfrm>
          <a:prstGeom prst="roundRect">
            <a:avLst>
              <a:gd name="adj" fmla="val 3556"/>
            </a:avLst>
          </a:prstGeom>
          <a:solidFill>
            <a:srgbClr val="FFFFFF"/>
          </a:solidFill>
          <a:ln w="12700">
            <a:solidFill>
              <a:srgbClr val="E4DED3"/>
            </a:solidFill>
            <a:prstDash val="solid"/>
          </a:ln>
        </p:spPr>
      </p:sp>
      <p:sp>
        <p:nvSpPr>
          <p:cNvPr id="12" name="Text 10"/>
          <p:cNvSpPr/>
          <p:nvPr/>
        </p:nvSpPr>
        <p:spPr>
          <a:xfrm>
            <a:off x="4709160" y="2999232"/>
            <a:ext cx="384048" cy="256032"/>
          </a:xfrm>
          <a:prstGeom prst="rect">
            <a:avLst/>
          </a:prstGeom>
          <a:noFill/>
          <a:ln/>
        </p:spPr>
        <p:txBody>
          <a:bodyPr wrap="square" lIns="0" tIns="0" rIns="0" bIns="0" rtlCol="0" anchor="ctr"/>
          <a:lstStyle/>
          <a:p>
            <a:pPr indent="0" marL="0">
              <a:buNone/>
            </a:pPr>
            <a:r>
              <a:rPr lang="en-US" sz="1600" b="1" dirty="0">
                <a:solidFill>
                  <a:srgbClr val="1C7ED6"/>
                </a:solidFill>
              </a:rPr>
              <a:t>2</a:t>
            </a:r>
            <a:endParaRPr lang="en-US" sz="1600" dirty="0"/>
          </a:p>
        </p:txBody>
      </p:sp>
      <p:sp>
        <p:nvSpPr>
          <p:cNvPr id="13" name="Text 11"/>
          <p:cNvSpPr/>
          <p:nvPr/>
        </p:nvSpPr>
        <p:spPr>
          <a:xfrm>
            <a:off x="5230368" y="3017520"/>
            <a:ext cx="1737360" cy="256032"/>
          </a:xfrm>
          <a:prstGeom prst="rect">
            <a:avLst/>
          </a:prstGeom>
          <a:noFill/>
          <a:ln/>
        </p:spPr>
        <p:txBody>
          <a:bodyPr wrap="square" lIns="0" tIns="0" rIns="0" bIns="0" rtlCol="0" anchor="ctr"/>
          <a:lstStyle/>
          <a:p>
            <a:pPr indent="0" marL="0">
              <a:buNone/>
            </a:pPr>
            <a:r>
              <a:rPr lang="en-US" sz="1300" b="1" dirty="0">
                <a:solidFill>
                  <a:srgbClr val="111111"/>
                </a:solidFill>
              </a:rPr>
              <a:t>素材重组产生新意义</a:t>
            </a:r>
            <a:endParaRPr lang="en-US" sz="1300" dirty="0"/>
          </a:p>
        </p:txBody>
      </p:sp>
      <p:sp>
        <p:nvSpPr>
          <p:cNvPr id="14" name="Text 12"/>
          <p:cNvSpPr/>
          <p:nvPr/>
        </p:nvSpPr>
        <p:spPr>
          <a:xfrm>
            <a:off x="4773168" y="3611880"/>
            <a:ext cx="2240280" cy="658368"/>
          </a:xfrm>
          <a:prstGeom prst="rect">
            <a:avLst/>
          </a:prstGeom>
          <a:noFill/>
          <a:ln/>
        </p:spPr>
        <p:txBody>
          <a:bodyPr wrap="square" lIns="0" tIns="0" rIns="0" bIns="0" rtlCol="0" anchor="ctr">
            <a:normAutofit/>
          </a:bodyPr>
          <a:lstStyle/>
          <a:p>
            <a:pPr algn="ctr" indent="0" marL="0">
              <a:buNone/>
            </a:pPr>
            <a:r>
              <a:rPr lang="en-US" sz="1020" dirty="0">
                <a:solidFill>
                  <a:srgbClr val="1F2937"/>
                </a:solidFill>
              </a:rPr>
              <a:t>旧有体育片段在新的剪辑关系中获得新的社会表达。</a:t>
            </a:r>
            <a:endParaRPr lang="en-US" sz="1020" dirty="0"/>
          </a:p>
        </p:txBody>
      </p:sp>
      <p:sp>
        <p:nvSpPr>
          <p:cNvPr id="15" name="Shape 13"/>
          <p:cNvSpPr/>
          <p:nvPr/>
        </p:nvSpPr>
        <p:spPr>
          <a:xfrm>
            <a:off x="7909560" y="2761488"/>
            <a:ext cx="2834640" cy="2057400"/>
          </a:xfrm>
          <a:prstGeom prst="roundRect">
            <a:avLst>
              <a:gd name="adj" fmla="val 3556"/>
            </a:avLst>
          </a:prstGeom>
          <a:solidFill>
            <a:srgbClr val="FFFFFF"/>
          </a:solidFill>
          <a:ln w="12700">
            <a:solidFill>
              <a:srgbClr val="E4DED3"/>
            </a:solidFill>
            <a:prstDash val="solid"/>
          </a:ln>
        </p:spPr>
      </p:sp>
      <p:sp>
        <p:nvSpPr>
          <p:cNvPr id="16" name="Text 14"/>
          <p:cNvSpPr/>
          <p:nvPr/>
        </p:nvSpPr>
        <p:spPr>
          <a:xfrm>
            <a:off x="8138160" y="2999232"/>
            <a:ext cx="384048" cy="256032"/>
          </a:xfrm>
          <a:prstGeom prst="rect">
            <a:avLst/>
          </a:prstGeom>
          <a:noFill/>
          <a:ln/>
        </p:spPr>
        <p:txBody>
          <a:bodyPr wrap="square" lIns="0" tIns="0" rIns="0" bIns="0" rtlCol="0" anchor="ctr"/>
          <a:lstStyle/>
          <a:p>
            <a:pPr indent="0" marL="0">
              <a:buNone/>
            </a:pPr>
            <a:r>
              <a:rPr lang="en-US" sz="1600" b="1" dirty="0">
                <a:solidFill>
                  <a:srgbClr val="2F9E44"/>
                </a:solidFill>
              </a:rPr>
              <a:t>3</a:t>
            </a:r>
            <a:endParaRPr lang="en-US" sz="1600" dirty="0"/>
          </a:p>
        </p:txBody>
      </p:sp>
      <p:sp>
        <p:nvSpPr>
          <p:cNvPr id="17" name="Text 15"/>
          <p:cNvSpPr/>
          <p:nvPr/>
        </p:nvSpPr>
        <p:spPr>
          <a:xfrm>
            <a:off x="8659368" y="3017520"/>
            <a:ext cx="1737360" cy="256032"/>
          </a:xfrm>
          <a:prstGeom prst="rect">
            <a:avLst/>
          </a:prstGeom>
          <a:noFill/>
          <a:ln/>
        </p:spPr>
        <p:txBody>
          <a:bodyPr wrap="square" lIns="0" tIns="0" rIns="0" bIns="0" rtlCol="0" anchor="ctr"/>
          <a:lstStyle/>
          <a:p>
            <a:pPr indent="0" marL="0">
              <a:buNone/>
            </a:pPr>
            <a:r>
              <a:rPr lang="en-US" sz="1300" b="1" dirty="0">
                <a:solidFill>
                  <a:srgbClr val="111111"/>
                </a:solidFill>
              </a:rPr>
              <a:t>综合影像的学习价值</a:t>
            </a:r>
            <a:endParaRPr lang="en-US" sz="1300" dirty="0"/>
          </a:p>
        </p:txBody>
      </p:sp>
      <p:sp>
        <p:nvSpPr>
          <p:cNvPr id="18" name="Text 16"/>
          <p:cNvSpPr/>
          <p:nvPr/>
        </p:nvSpPr>
        <p:spPr>
          <a:xfrm>
            <a:off x="8202168" y="3611880"/>
            <a:ext cx="2240280" cy="658368"/>
          </a:xfrm>
          <a:prstGeom prst="rect">
            <a:avLst/>
          </a:prstGeom>
          <a:noFill/>
          <a:ln/>
        </p:spPr>
        <p:txBody>
          <a:bodyPr wrap="square" lIns="0" tIns="0" rIns="0" bIns="0" rtlCol="0" anchor="ctr">
            <a:normAutofit/>
          </a:bodyPr>
          <a:lstStyle/>
          <a:p>
            <a:pPr algn="ctr" indent="0" marL="0">
              <a:buNone/>
            </a:pPr>
            <a:r>
              <a:rPr lang="en-US" sz="1020" dirty="0">
                <a:solidFill>
                  <a:srgbClr val="1F2937"/>
                </a:solidFill>
              </a:rPr>
              <a:t>做综合影像时，应先明确主题，再选择素材、技术和节奏。</a:t>
            </a:r>
            <a:endParaRPr lang="en-US" sz="1020" dirty="0"/>
          </a:p>
        </p:txBody>
      </p:sp>
      <p:sp>
        <p:nvSpPr>
          <p:cNvPr id="19" name="Text 17"/>
          <p:cNvSpPr/>
          <p:nvPr/>
        </p:nvSpPr>
        <p:spPr>
          <a:xfrm>
            <a:off x="1005840" y="5559552"/>
            <a:ext cx="10241280" cy="384048"/>
          </a:xfrm>
          <a:prstGeom prst="rect">
            <a:avLst/>
          </a:prstGeom>
          <a:noFill/>
          <a:ln/>
        </p:spPr>
        <p:txBody>
          <a:bodyPr wrap="square" lIns="0" tIns="0" rIns="0" bIns="0" rtlCol="0" anchor="ctr">
            <a:normAutofit/>
          </a:bodyPr>
          <a:lstStyle/>
          <a:p>
            <a:pPr algn="ctr" indent="0" marL="0">
              <a:buNone/>
            </a:pPr>
            <a:r>
              <a:rPr lang="en-US" sz="1350" b="1" dirty="0">
                <a:solidFill>
                  <a:srgbClr val="E93D35"/>
                </a:solidFill>
              </a:rPr>
              <a:t>因此，本作品可作为综合影像实践的优秀案例：它说明技术并不是目的，技术最终要帮助作品建立观点、情绪与审美秩序。</a:t>
            </a:r>
            <a:endParaRPr lang="en-US" sz="1350" dirty="0"/>
          </a:p>
        </p:txBody>
      </p:sp>
      <p:sp>
        <p:nvSpPr>
          <p:cNvPr id="20" name="Text 18"/>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DF8"/>
          </a:solidFill>
          <a:ln w="12700">
            <a:solidFill>
              <a:srgbClr val="FFFDF8"/>
            </a:solidFill>
            <a:prstDash val="solid"/>
          </a:ln>
        </p:spPr>
      </p:sp>
      <p:sp>
        <p:nvSpPr>
          <p:cNvPr id="3" name="Text 1"/>
          <p:cNvSpPr/>
          <p:nvPr/>
        </p:nvSpPr>
        <p:spPr>
          <a:xfrm>
            <a:off x="594360" y="347472"/>
            <a:ext cx="3017520" cy="228600"/>
          </a:xfrm>
          <a:prstGeom prst="rect">
            <a:avLst/>
          </a:prstGeom>
          <a:noFill/>
          <a:ln/>
        </p:spPr>
        <p:txBody>
          <a:bodyPr wrap="square" lIns="0" tIns="0" rIns="0" bIns="0" rtlCol="0" anchor="ctr"/>
          <a:lstStyle/>
          <a:p>
            <a:pPr indent="0" marL="0">
              <a:buNone/>
            </a:pPr>
            <a:r>
              <a:rPr lang="en-US" sz="850" b="1" dirty="0">
                <a:solidFill>
                  <a:srgbClr val="E93D35"/>
                </a:solidFill>
                <a:latin typeface="PingFang SC" pitchFamily="34" charset="0"/>
                <a:ea typeface="PingFang SC" pitchFamily="34" charset="-122"/>
                <a:cs typeface="PingFang SC" pitchFamily="34" charset="-120"/>
              </a:rPr>
              <a:t>REFERENCES</a:t>
            </a:r>
            <a:endParaRPr lang="en-US" sz="850" dirty="0"/>
          </a:p>
        </p:txBody>
      </p:sp>
      <p:sp>
        <p:nvSpPr>
          <p:cNvPr id="4" name="Text 2"/>
          <p:cNvSpPr/>
          <p:nvPr/>
        </p:nvSpPr>
        <p:spPr>
          <a:xfrm>
            <a:off x="594360" y="658368"/>
            <a:ext cx="987552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PingFang SC" pitchFamily="34" charset="0"/>
                <a:ea typeface="PingFang SC" pitchFamily="34" charset="-122"/>
                <a:cs typeface="PingFang SC" pitchFamily="34" charset="-120"/>
              </a:rPr>
              <a:t>参考资料与素材说明</a:t>
            </a:r>
            <a:endParaRPr lang="en-US" sz="2500" dirty="0"/>
          </a:p>
        </p:txBody>
      </p:sp>
      <p:sp>
        <p:nvSpPr>
          <p:cNvPr id="5" name="Shape 3"/>
          <p:cNvSpPr/>
          <p:nvPr/>
        </p:nvSpPr>
        <p:spPr>
          <a:xfrm>
            <a:off x="594360" y="1243584"/>
            <a:ext cx="10972800" cy="0"/>
          </a:xfrm>
          <a:prstGeom prst="line">
            <a:avLst/>
          </a:prstGeom>
          <a:noFill/>
          <a:ln w="12700">
            <a:solidFill>
              <a:srgbClr val="D7D0C5"/>
            </a:solidFill>
            <a:prstDash val="solid"/>
          </a:ln>
        </p:spPr>
      </p:sp>
      <p:sp>
        <p:nvSpPr>
          <p:cNvPr id="6" name="Text 4"/>
          <p:cNvSpPr/>
          <p:nvPr/>
        </p:nvSpPr>
        <p:spPr>
          <a:xfrm>
            <a:off x="914400" y="1691640"/>
            <a:ext cx="320040" cy="182880"/>
          </a:xfrm>
          <a:prstGeom prst="rect">
            <a:avLst/>
          </a:prstGeom>
          <a:noFill/>
          <a:ln/>
        </p:spPr>
        <p:txBody>
          <a:bodyPr wrap="square" lIns="0" tIns="0" rIns="0" bIns="0" rtlCol="0" anchor="ctr"/>
          <a:lstStyle/>
          <a:p>
            <a:pPr indent="0" marL="0">
              <a:buNone/>
            </a:pPr>
            <a:r>
              <a:rPr lang="en-US" sz="1050" b="1" dirty="0">
                <a:solidFill>
                  <a:srgbClr val="E93D35"/>
                </a:solidFill>
              </a:rPr>
              <a:t>1.</a:t>
            </a:r>
            <a:endParaRPr lang="en-US" sz="1050" dirty="0"/>
          </a:p>
        </p:txBody>
      </p:sp>
      <p:sp>
        <p:nvSpPr>
          <p:cNvPr id="7" name="Text 5"/>
          <p:cNvSpPr/>
          <p:nvPr/>
        </p:nvSpPr>
        <p:spPr>
          <a:xfrm>
            <a:off x="1298448" y="1682496"/>
            <a:ext cx="9509760" cy="256032"/>
          </a:xfrm>
          <a:prstGeom prst="rect">
            <a:avLst/>
          </a:prstGeom>
          <a:noFill/>
          <a:ln/>
        </p:spPr>
        <p:txBody>
          <a:bodyPr wrap="square" lIns="0" tIns="0" rIns="0" bIns="0" rtlCol="0" anchor="ctr">
            <a:normAutofit/>
          </a:bodyPr>
          <a:lstStyle/>
          <a:p>
            <a:pPr indent="0" marL="0">
              <a:buNone/>
            </a:pPr>
            <a:r>
              <a:rPr lang="en-US" sz="1150" dirty="0">
                <a:solidFill>
                  <a:srgbClr val="111111"/>
                </a:solidFill>
              </a:rPr>
              <a:t>Wieden+Kennedy: Nike — You Can’t Stop Us, https://www.wk.com/work/nike-you-cant-stop-us/</a:t>
            </a:r>
            <a:endParaRPr lang="en-US" sz="1150" dirty="0"/>
          </a:p>
        </p:txBody>
      </p:sp>
      <p:sp>
        <p:nvSpPr>
          <p:cNvPr id="8" name="Text 6"/>
          <p:cNvSpPr/>
          <p:nvPr/>
        </p:nvSpPr>
        <p:spPr>
          <a:xfrm>
            <a:off x="914400" y="2350008"/>
            <a:ext cx="320040" cy="182880"/>
          </a:xfrm>
          <a:prstGeom prst="rect">
            <a:avLst/>
          </a:prstGeom>
          <a:noFill/>
          <a:ln/>
        </p:spPr>
        <p:txBody>
          <a:bodyPr wrap="square" lIns="0" tIns="0" rIns="0" bIns="0" rtlCol="0" anchor="ctr"/>
          <a:lstStyle/>
          <a:p>
            <a:pPr indent="0" marL="0">
              <a:buNone/>
            </a:pPr>
            <a:r>
              <a:rPr lang="en-US" sz="1050" b="1" dirty="0">
                <a:solidFill>
                  <a:srgbClr val="E93D35"/>
                </a:solidFill>
              </a:rPr>
              <a:t>2.</a:t>
            </a:r>
            <a:endParaRPr lang="en-US" sz="1050" dirty="0"/>
          </a:p>
        </p:txBody>
      </p:sp>
      <p:sp>
        <p:nvSpPr>
          <p:cNvPr id="9" name="Text 7"/>
          <p:cNvSpPr/>
          <p:nvPr/>
        </p:nvSpPr>
        <p:spPr>
          <a:xfrm>
            <a:off x="1298448" y="2340864"/>
            <a:ext cx="9509760" cy="256032"/>
          </a:xfrm>
          <a:prstGeom prst="rect">
            <a:avLst/>
          </a:prstGeom>
          <a:noFill/>
          <a:ln/>
        </p:spPr>
        <p:txBody>
          <a:bodyPr wrap="square" lIns="0" tIns="0" rIns="0" bIns="0" rtlCol="0" anchor="ctr">
            <a:normAutofit/>
          </a:bodyPr>
          <a:lstStyle/>
          <a:p>
            <a:pPr indent="0" marL="0">
              <a:buNone/>
            </a:pPr>
            <a:r>
              <a:rPr lang="en-US" sz="1150" dirty="0">
                <a:solidFill>
                  <a:srgbClr val="111111"/>
                </a:solidFill>
              </a:rPr>
              <a:t>Colossal: A Remarkable Split-Screen Montage for Nike, https://www.thisiscolossal.com/2021/04/nike-you-cant-stop-us/</a:t>
            </a:r>
            <a:endParaRPr lang="en-US" sz="1150" dirty="0"/>
          </a:p>
        </p:txBody>
      </p:sp>
      <p:sp>
        <p:nvSpPr>
          <p:cNvPr id="10" name="Text 8"/>
          <p:cNvSpPr/>
          <p:nvPr/>
        </p:nvSpPr>
        <p:spPr>
          <a:xfrm>
            <a:off x="914400" y="3008376"/>
            <a:ext cx="320040" cy="182880"/>
          </a:xfrm>
          <a:prstGeom prst="rect">
            <a:avLst/>
          </a:prstGeom>
          <a:noFill/>
          <a:ln/>
        </p:spPr>
        <p:txBody>
          <a:bodyPr wrap="square" lIns="0" tIns="0" rIns="0" bIns="0" rtlCol="0" anchor="ctr"/>
          <a:lstStyle/>
          <a:p>
            <a:pPr indent="0" marL="0">
              <a:buNone/>
            </a:pPr>
            <a:r>
              <a:rPr lang="en-US" sz="1050" b="1" dirty="0">
                <a:solidFill>
                  <a:srgbClr val="E93D35"/>
                </a:solidFill>
              </a:rPr>
              <a:t>3.</a:t>
            </a:r>
            <a:endParaRPr lang="en-US" sz="1050" dirty="0"/>
          </a:p>
        </p:txBody>
      </p:sp>
      <p:sp>
        <p:nvSpPr>
          <p:cNvPr id="11" name="Text 9"/>
          <p:cNvSpPr/>
          <p:nvPr/>
        </p:nvSpPr>
        <p:spPr>
          <a:xfrm>
            <a:off x="1298448" y="2999232"/>
            <a:ext cx="9509760" cy="256032"/>
          </a:xfrm>
          <a:prstGeom prst="rect">
            <a:avLst/>
          </a:prstGeom>
          <a:noFill/>
          <a:ln/>
        </p:spPr>
        <p:txBody>
          <a:bodyPr wrap="square" lIns="0" tIns="0" rIns="0" bIns="0" rtlCol="0" anchor="ctr">
            <a:normAutofit/>
          </a:bodyPr>
          <a:lstStyle/>
          <a:p>
            <a:pPr indent="0" marL="0">
              <a:buNone/>
            </a:pPr>
            <a:r>
              <a:rPr lang="en-US" sz="1150" dirty="0">
                <a:solidFill>
                  <a:srgbClr val="111111"/>
                </a:solidFill>
              </a:rPr>
              <a:t>Digital Synopsis: Nike’s New Ad Is An Editing Marvel, https://digitalsynopsis.com/advertising/nike-you-cant-stop-us/</a:t>
            </a:r>
            <a:endParaRPr lang="en-US" sz="1150" dirty="0"/>
          </a:p>
        </p:txBody>
      </p:sp>
      <p:sp>
        <p:nvSpPr>
          <p:cNvPr id="12" name="Text 10"/>
          <p:cNvSpPr/>
          <p:nvPr/>
        </p:nvSpPr>
        <p:spPr>
          <a:xfrm>
            <a:off x="914400" y="3666744"/>
            <a:ext cx="320040" cy="182880"/>
          </a:xfrm>
          <a:prstGeom prst="rect">
            <a:avLst/>
          </a:prstGeom>
          <a:noFill/>
          <a:ln/>
        </p:spPr>
        <p:txBody>
          <a:bodyPr wrap="square" lIns="0" tIns="0" rIns="0" bIns="0" rtlCol="0" anchor="ctr"/>
          <a:lstStyle/>
          <a:p>
            <a:pPr indent="0" marL="0">
              <a:buNone/>
            </a:pPr>
            <a:r>
              <a:rPr lang="en-US" sz="1050" b="1" dirty="0">
                <a:solidFill>
                  <a:srgbClr val="E93D35"/>
                </a:solidFill>
              </a:rPr>
              <a:t>4.</a:t>
            </a:r>
            <a:endParaRPr lang="en-US" sz="1050" dirty="0"/>
          </a:p>
        </p:txBody>
      </p:sp>
      <p:sp>
        <p:nvSpPr>
          <p:cNvPr id="13" name="Text 11"/>
          <p:cNvSpPr/>
          <p:nvPr/>
        </p:nvSpPr>
        <p:spPr>
          <a:xfrm>
            <a:off x="1298448" y="3657600"/>
            <a:ext cx="9509760" cy="256032"/>
          </a:xfrm>
          <a:prstGeom prst="rect">
            <a:avLst/>
          </a:prstGeom>
          <a:noFill/>
          <a:ln/>
        </p:spPr>
        <p:txBody>
          <a:bodyPr wrap="square" lIns="0" tIns="0" rIns="0" bIns="0" rtlCol="0" anchor="ctr">
            <a:normAutofit/>
          </a:bodyPr>
          <a:lstStyle/>
          <a:p>
            <a:pPr indent="0" marL="0">
              <a:buNone/>
            </a:pPr>
            <a:r>
              <a:rPr lang="en-US" sz="1150" dirty="0">
                <a:solidFill>
                  <a:srgbClr val="111111"/>
                </a:solidFill>
              </a:rPr>
              <a:t>Musicbed Blog: Case Study on Nike’s “You Can’t Stop Us”, https://www.musicbed.com/articles/at-musicbed/case-study-musicbed-custom-work-nike-you-cant-stop-us/</a:t>
            </a:r>
            <a:endParaRPr lang="en-US" sz="1150" dirty="0"/>
          </a:p>
        </p:txBody>
      </p:sp>
      <p:sp>
        <p:nvSpPr>
          <p:cNvPr id="14" name="Text 12"/>
          <p:cNvSpPr/>
          <p:nvPr/>
        </p:nvSpPr>
        <p:spPr>
          <a:xfrm>
            <a:off x="914400" y="4325112"/>
            <a:ext cx="320040" cy="182880"/>
          </a:xfrm>
          <a:prstGeom prst="rect">
            <a:avLst/>
          </a:prstGeom>
          <a:noFill/>
          <a:ln/>
        </p:spPr>
        <p:txBody>
          <a:bodyPr wrap="square" lIns="0" tIns="0" rIns="0" bIns="0" rtlCol="0" anchor="ctr"/>
          <a:lstStyle/>
          <a:p>
            <a:pPr indent="0" marL="0">
              <a:buNone/>
            </a:pPr>
            <a:r>
              <a:rPr lang="en-US" sz="1050" b="1" dirty="0">
                <a:solidFill>
                  <a:srgbClr val="E93D35"/>
                </a:solidFill>
              </a:rPr>
              <a:t>5.</a:t>
            </a:r>
            <a:endParaRPr lang="en-US" sz="1050" dirty="0"/>
          </a:p>
        </p:txBody>
      </p:sp>
      <p:sp>
        <p:nvSpPr>
          <p:cNvPr id="15" name="Text 13"/>
          <p:cNvSpPr/>
          <p:nvPr/>
        </p:nvSpPr>
        <p:spPr>
          <a:xfrm>
            <a:off x="1298448" y="4315968"/>
            <a:ext cx="9509760" cy="256032"/>
          </a:xfrm>
          <a:prstGeom prst="rect">
            <a:avLst/>
          </a:prstGeom>
          <a:noFill/>
          <a:ln/>
        </p:spPr>
        <p:txBody>
          <a:bodyPr wrap="square" lIns="0" tIns="0" rIns="0" bIns="0" rtlCol="0" anchor="ctr">
            <a:normAutofit/>
          </a:bodyPr>
          <a:lstStyle/>
          <a:p>
            <a:pPr indent="0" marL="0">
              <a:buNone/>
            </a:pPr>
            <a:r>
              <a:rPr lang="en-US" sz="1150" dirty="0">
                <a:solidFill>
                  <a:srgbClr val="111111"/>
                </a:solidFill>
              </a:rPr>
              <a:t>课堂作业照片：/Users/baojiale/Downloads/1263.JPG；本 PPT 的分屏运动画面为分析示意图，并非原片截图。</a:t>
            </a:r>
            <a:endParaRPr lang="en-US" sz="1150" dirty="0"/>
          </a:p>
        </p:txBody>
      </p:sp>
      <p:sp>
        <p:nvSpPr>
          <p:cNvPr id="16" name="Shape 14"/>
          <p:cNvSpPr/>
          <p:nvPr/>
        </p:nvSpPr>
        <p:spPr>
          <a:xfrm>
            <a:off x="914400" y="5285232"/>
            <a:ext cx="9875520" cy="0"/>
          </a:xfrm>
          <a:prstGeom prst="line">
            <a:avLst/>
          </a:prstGeom>
          <a:noFill/>
          <a:ln w="12700">
            <a:solidFill>
              <a:srgbClr val="DDD6CB"/>
            </a:solidFill>
            <a:prstDash val="solid"/>
          </a:ln>
        </p:spPr>
      </p:sp>
      <p:sp>
        <p:nvSpPr>
          <p:cNvPr id="17" name="Text 15"/>
          <p:cNvSpPr/>
          <p:nvPr/>
        </p:nvSpPr>
        <p:spPr>
          <a:xfrm>
            <a:off x="914400" y="5623560"/>
            <a:ext cx="9875520" cy="274320"/>
          </a:xfrm>
          <a:prstGeom prst="rect">
            <a:avLst/>
          </a:prstGeom>
          <a:noFill/>
          <a:ln/>
        </p:spPr>
        <p:txBody>
          <a:bodyPr wrap="square" lIns="0" tIns="0" rIns="0" bIns="0" rtlCol="0" anchor="ctr"/>
          <a:lstStyle/>
          <a:p>
            <a:pPr algn="ctr" indent="0" marL="0">
              <a:buNone/>
            </a:pPr>
            <a:r>
              <a:rPr lang="en-US" sz="1150" b="1" dirty="0">
                <a:solidFill>
                  <a:srgbClr val="1C7ED6"/>
                </a:solidFill>
              </a:rPr>
              <a:t>提交建议：若老师要求 PDF，可从 PowerPoint / Keynote 中导出 PDF；我也另外生成了一份同名 PDF 便于直接提交。</a:t>
            </a:r>
            <a:endParaRPr lang="en-US" sz="1150" dirty="0"/>
          </a:p>
        </p:txBody>
      </p:sp>
      <p:sp>
        <p:nvSpPr>
          <p:cNvPr id="18" name="Text 16"/>
          <p:cNvSpPr/>
          <p:nvPr/>
        </p:nvSpPr>
        <p:spPr>
          <a:xfrm>
            <a:off x="594360" y="6473952"/>
            <a:ext cx="3840480" cy="164592"/>
          </a:xfrm>
          <a:prstGeom prst="rect">
            <a:avLst/>
          </a:prstGeom>
          <a:noFill/>
          <a:ln/>
        </p:spPr>
        <p:txBody>
          <a:bodyPr wrap="square" lIns="0" tIns="0" rIns="0" bIns="0" rtlCol="0" anchor="ctr"/>
          <a:lstStyle/>
          <a:p>
            <a:pPr indent="0" marL="0">
              <a:buNone/>
            </a:pPr>
            <a:r>
              <a:rPr lang="en-US" sz="750" dirty="0">
                <a:solidFill>
                  <a:srgbClr val="6B7280"/>
                </a:solidFill>
              </a:rPr>
              <a:t>综合影像实践 · 调研报告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ingFang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ingFang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英语趣味学习</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Nike《You Can't Stop Us》综合影像调研报告</dc:title>
  <dc:subject>综合影像实践小作业1</dc:subject>
  <dc:creator>Codex</dc:creator>
  <cp:lastModifiedBy>Codex</cp:lastModifiedBy>
  <cp:revision>1</cp:revision>
  <dcterms:created xsi:type="dcterms:W3CDTF">2026-05-30T07:40:21Z</dcterms:created>
  <dcterms:modified xsi:type="dcterms:W3CDTF">2026-05-30T07:40:21Z</dcterms:modified>
</cp:coreProperties>
</file>